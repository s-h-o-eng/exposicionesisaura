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90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Grupo 3. Tema: arquitectura cliente-servidor. Patrón de diseño: Adapter y Facade, aplicados al backend. Exposición: 13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cliente pide, servidor responde por una red. Sirve para centralizar datos, atender muchos usuarios y separar interfaz de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características: red, petición-respuesta, servidor centralizado, múltiples clientes, escalabilidad y control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en cuatro pasos: petición, proceso, acceso a datos y respuesta. El ejemplo muestra una petición GET y su respuesta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formas de organizar: 2 capas (cliente y datos), 3 capas (presentación, lógica, datos) y N capas con servicios independientes.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Diagrama: varios clientes se conectan por Internet con un servidor API, que a su vez consulta la base de datos. La flecha verde es la petición y la ámbar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Simulación animada del ciclo completo: el cliente envía GET, el servidor consulta la base de datos y devuelve 200 OK con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Ventajas: centralización, mantenimiento, escalabilidad y un backend compartido. Desventajas: punto único de falla, saturación, dependencia de red y costos.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Pila típica: React en el cliente, Node.js con Express como servidor, MySQL para los datos, Docker para empaquetar y la nube para desplegar. HTTP, REST y JSON conectan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y Facade son patrones estructurales. El Adapter traduce una interfaz a otra (por ejemplo, una pasarela de pagos externa). El Facade esconde varios subsistemas detrás de una sola operación simple. Ambos encajan en el servidor de una arquitectura cliente-servidor.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Facade es la puerta de entrada del servidor: el cliente hace una sola petición y el Facade coordina inventario, pagos y base de datos. El Adapter protege al servidor de servicios externos, como una pasarela de pagos, traduciendo su interfaz a la que el sistema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servidor define una ruta GET /api/saludo que responde JSON. El cliente la consulta con fetch y muestra el mensaje. Es el ciclo petición-respuesta en pocas líneas.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PagoAdapter recibe cobrar(valor) y lo traduce a makePayment de la pasarela externa. El PedidoFacade junta tres pasos (reservar, cobrar y guardar) en comprar(). La ruta POST /api/comprar solo llama a pedido.comprar(); el cliente no conoce los subsistemas.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rápida para elegir: la arquitectura según el tamaño del proyecto, cada tecnología según la necesidad y los patrones Adapter y Facade según el problema que resuelven.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arquitectura cliente-servidor es la base del backend moderno. Separar responsabilidades, poder escalar y elegir según la necesidad son sus ideas clave, y los patrones Adapter y Facade mantienen el servidor ordenado.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7239"/>
            <a:ext cx="10566400" cy="4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566400" cy="44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97239"/>
            <a:ext cx="10566400" cy="4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03626"/>
            <a:ext cx="654050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DESARROLLO BACKEND · ADAPTER Y FACADE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37896"/>
            <a:ext cx="6540500" cy="1198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014435"/>
            <a:ext cx="6540500" cy="665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se comunican las aplicaciones modernas, del navegador a la base de datos.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72350" y="2292350"/>
            <a:ext cx="1384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581591" y="2620081"/>
            <a:ext cx="965729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71634" y="2990850"/>
            <a:ext cx="98573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88550" y="2292350"/>
            <a:ext cx="1384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114289" y="2620081"/>
            <a:ext cx="1132734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6562" y="2990850"/>
            <a:ext cx="1028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+ datos</a:t>
            </a:r>
            <a:endParaRPr lang="en-US" sz="1300" dirty="0"/>
          </a:p>
        </p:txBody>
      </p:sp>
      <p:pic>
        <p:nvPicPr>
          <p:cNvPr id="11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50300" y="2667000"/>
            <a:ext cx="1244600" cy="127000"/>
          </a:xfrm>
          <a:prstGeom prst="rect">
            <a:avLst/>
          </a:prstGeom>
        </p:spPr>
      </p:pic>
      <p:pic>
        <p:nvPicPr>
          <p:cNvPr id="12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0300" y="3048000"/>
            <a:ext cx="1244600" cy="127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2800" y="6238258"/>
            <a:ext cx="78486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Pinto Acosta, Herrera Obando, Evert Arias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CONCEPTO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es y para qué sirve?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7239"/>
            <a:ext cx="5975967" cy="3944761"/>
          </a:xfrm>
          <a:prstGeom prst="roundRect">
            <a:avLst>
              <a:gd name="adj" fmla="val 386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68400" y="2873552"/>
            <a:ext cx="542271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8400" y="3307821"/>
            <a:ext cx="5422710" cy="98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en el que un cliente pide servicios o datos y un servidor los procesa y responde a través de una red.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1575" y="4474104"/>
            <a:ext cx="1851731" cy="388408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6350">
            <a:solidFill>
              <a:srgbClr val="2DD4B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Cliente: quien pide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31256" y="4474104"/>
            <a:ext cx="2357967" cy="388408"/>
          </a:xfrm>
          <a:prstGeom prst="roundRect">
            <a:avLst>
              <a:gd name="adj" fmla="val 50000"/>
            </a:avLst>
          </a:prstGeom>
          <a:solidFill>
            <a:srgbClr val="16263D"/>
          </a:solidFill>
          <a:ln w="6350">
            <a:solidFill>
              <a:srgbClr val="F2B84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Servidor: quien responde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1968" y="1897239"/>
            <a:ext cx="451885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SIRVE PARA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43" y="2283883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0" descr="Database"/>
          <p:cNvPicPr>
            <a:picLocks noChangeAspect="1"/>
          </p:cNvPicPr>
          <p:nvPr/>
        </p:nvPicPr>
        <p:blipFill>
          <a:blip r:embed="rId3"/>
          <a:srcRect l="-439" r="-439"/>
          <a:stretch/>
        </p:blipFill>
        <p:spPr>
          <a:xfrm>
            <a:off x="7200812" y="2645657"/>
            <a:ext cx="313884" cy="355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67096" y="2575807"/>
            <a:ext cx="360835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Centralizar los datos y las reglas del negocio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95143" y="3521780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0812" y="3883554"/>
            <a:ext cx="355600" cy="355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08812" y="3937529"/>
            <a:ext cx="366403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Atender a muchos usuarios a la vez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995143" y="4759678"/>
            <a:ext cx="4380883" cy="1079147"/>
          </a:xfrm>
          <a:prstGeom prst="roundRect">
            <a:avLst>
              <a:gd name="adj" fmla="val 1147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Code"/>
          <p:cNvPicPr>
            <a:picLocks noChangeAspect="1"/>
          </p:cNvPicPr>
          <p:nvPr/>
        </p:nvPicPr>
        <p:blipFill>
          <a:blip r:embed="rId5"/>
          <a:srcRect t="-53" b="-53"/>
          <a:stretch/>
        </p:blipFill>
        <p:spPr>
          <a:xfrm>
            <a:off x="7200812" y="5121452"/>
            <a:ext cx="329847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83059" y="5051602"/>
            <a:ext cx="359191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Separar la interfaz de la lógica del sistema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CARACTERÍSTICAS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Seis rasgos que la definen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644" y="2106084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1644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 por red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1644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y servidor se conectan con HTTP sobre TCP/IP.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842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1511" y="2106084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1511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 y respuesta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1511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siempre inicia; el servidor espera y responde.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708" y="1900414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01378" y="2106084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01378" y="2487084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centralizado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01378" y="282998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 los datos y las reglas del negocio.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1644" y="3913011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1644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Muchos clientes a la vez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21644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mismo servidor atiende a miles de usuarios.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05842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4" descr="Lightni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1511" y="3913011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1511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Escalable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11511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refuerza el servidor sin tocar a los clientes.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95708" y="3707341"/>
            <a:ext cx="3380317" cy="1597378"/>
          </a:xfrm>
          <a:prstGeom prst="roundRect">
            <a:avLst>
              <a:gd name="adj" fmla="val 775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5" descr="Loc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01378" y="3913011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01378" y="4294011"/>
            <a:ext cx="30580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y seguridad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01378" y="4636911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Accesos y permisos se gestionan en un solo lugar.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FUNCIONAMIENTO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0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1644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644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644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envía una solicitud HTTP al servidor.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56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013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013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1345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servidor valida y ejecuta la lógica del negocio.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3810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810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1045" y="2972153"/>
            <a:ext cx="2172899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 o guarda información en la base de datos.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1900414"/>
            <a:ext cx="2520950" cy="1970617"/>
          </a:xfrm>
          <a:prstGeom prst="roundRect">
            <a:avLst>
              <a:gd name="adj" fmla="val 628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060745" y="2106084"/>
            <a:ext cx="2172899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60745" y="2629253"/>
            <a:ext cx="21728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0745" y="2972153"/>
            <a:ext cx="217289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Devuelve el resultado (JSON o HTML) al cliente.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4179005"/>
            <a:ext cx="10566400" cy="637469"/>
          </a:xfrm>
          <a:prstGeom prst="roundRect">
            <a:avLst>
              <a:gd name="adj" fmla="val 19923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066800" y="4382205"/>
            <a:ext cx="104902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EJEMPLO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4183" y="4382205"/>
            <a:ext cx="5305799" cy="256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GET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/api/productos → 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 OK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"productos": [ ... ] 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ORGANIZACIÓN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¿Cómo se organiza?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7044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capas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044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y servidor de datos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7044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(interfaz + lógica)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7044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47044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(datos)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47044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405842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36911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capas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911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Presentación, lógica y datos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911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 (React)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911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36911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Lógica (Node.js)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36911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636911" y="3759377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(MySQL)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911" y="3759377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995708" y="1900414"/>
            <a:ext cx="3380317" cy="3418240"/>
          </a:xfrm>
          <a:prstGeom prst="roundRect">
            <a:avLst>
              <a:gd name="adj" fmla="val 3663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226778" y="2131482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capas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6778" y="2456569"/>
            <a:ext cx="300572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Capas y servicios independientes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6778" y="2840038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6778" y="2840038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6778" y="3299709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6778" y="3299709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2DD4B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226778" y="3759377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6778" y="3759377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226778" y="4219045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6778" y="4219045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226778" y="4678716"/>
            <a:ext cx="2918178" cy="408869"/>
          </a:xfrm>
          <a:prstGeom prst="roundRect">
            <a:avLst>
              <a:gd name="adj" fmla="val 12425"/>
            </a:avLst>
          </a:prstGeom>
          <a:solidFill>
            <a:srgbClr val="1B3A5C"/>
          </a:solidFill>
          <a:ln/>
        </p:spPr>
        <p:txBody>
          <a:bodyPr wrap="square" lIns="145988" tIns="74021" rIns="33212" bIns="486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6778" y="4678716"/>
            <a:ext cx="2918178" cy="408869"/>
          </a:xfrm>
          <a:custGeom>
            <a:avLst/>
            <a:gdLst/>
            <a:ahLst/>
            <a:cxnLst/>
            <a:rect l="l" t="t" r="r" b="b"/>
            <a:pathLst>
              <a:path w="2918178" h="408869">
                <a:moveTo>
                  <a:pt x="50800" y="408869"/>
                </a:moveTo>
                <a:lnTo>
                  <a:pt x="50800" y="408869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358069"/>
                </a:lnTo>
                <a:arcTo wR="12700" hR="50800" stAng="10800000" swAng="-5400000"/>
                <a:close/>
              </a:path>
            </a:pathLst>
          </a:cu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DIAGRAMA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Componentes y conexiones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01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37070" y="2183166"/>
            <a:ext cx="13293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web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41662" y="2475266"/>
            <a:ext cx="520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9150" y="2990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43106" y="3072166"/>
            <a:ext cx="11173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móvil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7440" y="3364266"/>
            <a:ext cx="118872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Android · 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3879850"/>
            <a:ext cx="1765300" cy="685800"/>
          </a:xfrm>
          <a:prstGeom prst="roundRect">
            <a:avLst>
              <a:gd name="adj" fmla="val 17593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61424" y="3961166"/>
            <a:ext cx="108066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Escritorio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10001" y="4253266"/>
            <a:ext cx="983509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nativa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08350" y="2673350"/>
            <a:ext cx="1892300" cy="1320800"/>
          </a:xfrm>
          <a:prstGeom prst="roundRect">
            <a:avLst>
              <a:gd name="adj" fmla="val 50000"/>
            </a:avLst>
          </a:prstGeom>
          <a:solidFill>
            <a:srgbClr val="E6ECF2"/>
          </a:solidFill>
          <a:ln w="12700">
            <a:solidFill>
              <a:srgbClr val="5B6573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801119" y="3072166"/>
            <a:ext cx="9066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3364" y="3364266"/>
            <a:ext cx="124227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/ HTTPS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3000" y="2540000"/>
            <a:ext cx="2159000" cy="1587500"/>
          </a:xfrm>
          <a:prstGeom prst="roundRect">
            <a:avLst>
              <a:gd name="adj" fmla="val 9600"/>
            </a:avLst>
          </a:prstGeom>
          <a:solidFill>
            <a:srgbClr val="0B7A6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736089" y="2874082"/>
            <a:ext cx="1132734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4611" y="3244850"/>
            <a:ext cx="9357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8696" y="3562350"/>
            <a:ext cx="160760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20200" y="2540000"/>
            <a:ext cx="2159000" cy="1587500"/>
          </a:xfrm>
          <a:prstGeom prst="roundRect">
            <a:avLst>
              <a:gd name="adj" fmla="val 9600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355666" y="2874082"/>
            <a:ext cx="188806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19238" y="3244850"/>
            <a:ext cx="7608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32934" y="3562350"/>
            <a:ext cx="173344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Tablas y relaciones</a:t>
            </a:r>
            <a:endParaRPr lang="en-US" sz="1300" dirty="0"/>
          </a:p>
        </p:txBody>
      </p:sp>
      <p:pic>
        <p:nvPicPr>
          <p:cNvPr id="2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78100" y="2381250"/>
            <a:ext cx="736600" cy="666750"/>
          </a:xfrm>
          <a:prstGeom prst="rect">
            <a:avLst/>
          </a:prstGeom>
        </p:spPr>
      </p:pic>
      <p:pic>
        <p:nvPicPr>
          <p:cNvPr id="2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8100" y="3270250"/>
            <a:ext cx="736600" cy="127000"/>
          </a:xfrm>
          <a:prstGeom prst="rect">
            <a:avLst/>
          </a:prstGeom>
        </p:spPr>
      </p:pic>
      <p:pic>
        <p:nvPicPr>
          <p:cNvPr id="2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78100" y="3619500"/>
            <a:ext cx="736600" cy="666750"/>
          </a:xfrm>
          <a:prstGeom prst="rect">
            <a:avLst/>
          </a:prstGeom>
        </p:spPr>
      </p:pic>
      <p:pic>
        <p:nvPicPr>
          <p:cNvPr id="2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94300" y="3048000"/>
            <a:ext cx="1041400" cy="127000"/>
          </a:xfrm>
          <a:prstGeom prst="rect">
            <a:avLst/>
          </a:prstGeom>
        </p:spPr>
      </p:pic>
      <p:pic>
        <p:nvPicPr>
          <p:cNvPr id="2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94300" y="3492500"/>
            <a:ext cx="1041400" cy="127000"/>
          </a:xfrm>
          <a:prstGeom prst="rect">
            <a:avLst/>
          </a:prstGeom>
        </p:spPr>
      </p:pic>
      <p:pic>
        <p:nvPicPr>
          <p:cNvPr id="2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9300" y="3270250"/>
            <a:ext cx="863600" cy="1270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45100" y="2794000"/>
            <a:ext cx="939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Petición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245100" y="3651250"/>
            <a:ext cx="939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407400" y="3016250"/>
            <a:ext cx="7874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12800" y="501650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clientes inician la comunicación; el servidor espera, consulta los datos y responde.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SIMULACIÓN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petición en vivo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12800" y="6238258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93400" y="6238258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  <p:pic>
        <p:nvPicPr>
          <p:cNvPr id="8" name="simulacion-peticion">
            <a:hlinkClick r:id="" action="ppaction://media"/>
            <a:extLst>
              <a:ext uri="{FF2B5EF4-FFF2-40B4-BE49-F238E27FC236}">
                <a16:creationId xmlns:a16="http://schemas.microsoft.com/office/drawing/2014/main" id="{164DDCE6-EE87-BB59-5F4F-3404424ED13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800" y="1853862"/>
            <a:ext cx="10566400" cy="315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BALANCE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71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Ventajas y desventajas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4"/>
            <a:ext cx="5175250" cy="3938411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156882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3444" y="2159440"/>
            <a:ext cx="117337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Ventajas</a:t>
            </a:r>
            <a:endParaRPr lang="en-US" sz="1800" dirty="0"/>
          </a:p>
        </p:txBody>
      </p:sp>
      <p:pic>
        <p:nvPicPr>
          <p:cNvPr id="7" name="Image 1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2623607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8044" y="2614082"/>
            <a:ext cx="33966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y seguridad centralizados</a:t>
            </a:r>
            <a:endParaRPr lang="en-US" sz="1500" dirty="0"/>
          </a:p>
        </p:txBody>
      </p:sp>
      <p:pic>
        <p:nvPicPr>
          <p:cNvPr id="9" name="Image 2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04905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8044" y="3039532"/>
            <a:ext cx="31565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Fácil de mantener y actualizar</a:t>
            </a:r>
            <a:endParaRPr lang="en-US" sz="1500" dirty="0"/>
          </a:p>
        </p:txBody>
      </p:sp>
      <p:pic>
        <p:nvPicPr>
          <p:cNvPr id="11" name="Image 3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474507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044" y="3464982"/>
            <a:ext cx="30482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 reforzando el servidor</a:t>
            </a:r>
            <a:endParaRPr lang="en-US" sz="1500" dirty="0"/>
          </a:p>
        </p:txBody>
      </p:sp>
      <p:pic>
        <p:nvPicPr>
          <p:cNvPr id="13" name="Image 4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2444" y="3899957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28044" y="3890432"/>
            <a:ext cx="38743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mismo backend para web y móvil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6200775" y="1900414"/>
            <a:ext cx="5175250" cy="3938411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7245" y="2156882"/>
            <a:ext cx="279400" cy="2794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38245" y="2159440"/>
            <a:ext cx="164316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Desventajas</a:t>
            </a:r>
            <a:endParaRPr lang="en-US" sz="1800" dirty="0"/>
          </a:p>
        </p:txBody>
      </p:sp>
      <p:pic>
        <p:nvPicPr>
          <p:cNvPr id="18" name="Image 6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2623607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812845" y="2614082"/>
            <a:ext cx="38883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servidor es un punto único de falla</a:t>
            </a:r>
            <a:endParaRPr lang="en-US" sz="1500" dirty="0"/>
          </a:p>
        </p:txBody>
      </p:sp>
      <p:pic>
        <p:nvPicPr>
          <p:cNvPr id="20" name="Image 7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049057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812845" y="3039532"/>
            <a:ext cx="35060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Mucha demanda puede saturarlo</a:t>
            </a:r>
            <a:endParaRPr lang="en-US" sz="1500" dirty="0"/>
          </a:p>
        </p:txBody>
      </p:sp>
      <p:pic>
        <p:nvPicPr>
          <p:cNvPr id="22" name="Image 8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474507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812845" y="3464982"/>
            <a:ext cx="36677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Depende de la red y de su latencia</a:t>
            </a:r>
            <a:endParaRPr lang="en-US" sz="1500" dirty="0"/>
          </a:p>
        </p:txBody>
      </p:sp>
      <p:pic>
        <p:nvPicPr>
          <p:cNvPr id="24" name="Image 9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57245" y="3899957"/>
            <a:ext cx="228600" cy="2286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812845" y="3890432"/>
            <a:ext cx="456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Costos de infraestructura y mantenimiento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TECNOLOGÍAS RELACIONADAS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qué se construye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1644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1644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1644" y="2791799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Interfaces dinámicas que consumen la API.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5842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611511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1511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Node.js + Express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1511" y="2791799"/>
            <a:ext cx="305804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y API REST en JavaScript.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95708" y="1900417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01378" y="2106085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01378" y="2395624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01378" y="2791799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relacionales consultados con SQL.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21644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CONTENEDORES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1644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Docker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1644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mismo entorno en tu equipo y en producción.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405842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611511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1511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AWS, Azure, GCP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1511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Servidores bajo demanda y escalables.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5708" y="3669153"/>
            <a:ext cx="3380317" cy="1559190"/>
          </a:xfrm>
          <a:prstGeom prst="roundRect">
            <a:avLst>
              <a:gd name="adj" fmla="val 7942"/>
            </a:avLst>
          </a:prstGeom>
          <a:solidFill>
            <a:srgbClr val="16263D"/>
          </a:solidFill>
          <a:ln w="635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01378" y="3874821"/>
            <a:ext cx="305804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01378" y="4164366"/>
            <a:ext cx="3058047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HTTP, REST y JSON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01378" y="4560534"/>
            <a:ext cx="3058047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idioma común entre cliente y servidor.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PATRONES DE DISEÑO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y Facade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00417"/>
            <a:ext cx="5175250" cy="3579195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244458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5044" y="2156885"/>
            <a:ext cx="142213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5044" y="2456569"/>
            <a:ext cx="164560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Patrón estructural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2444" y="2840038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2444" y="3104183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Traduce una interfaz en otra que el sistema ya espera.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72444" y="3770933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ANALOGÍA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2444" y="4035072"/>
            <a:ext cx="48021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adaptador de enchufe entre dos países.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72444" y="4444647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2444" y="4708792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Conecta una pasarela de pagos externa sin cambiar el código del servidor.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00775" y="1900417"/>
            <a:ext cx="5175250" cy="3579195"/>
          </a:xfrm>
          <a:prstGeom prst="roundRect">
            <a:avLst>
              <a:gd name="adj" fmla="val 3460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7245" y="2244458"/>
            <a:ext cx="355600" cy="355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9845" y="2156885"/>
            <a:ext cx="1422135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939845" y="2456569"/>
            <a:ext cx="164560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Patrón estructural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57245" y="2840038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57245" y="3104183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Ofrece una interfaz simple para un conjunto de subsistemas complejos.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57245" y="3770933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ANALOGÍA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57245" y="4035072"/>
            <a:ext cx="491560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recepción de un hotel: un solo punto de contacto.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57245" y="4444647"/>
            <a:ext cx="480218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EL BACKEND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57245" y="4708792"/>
            <a:ext cx="48021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sola operación, comprar, que reserva, cobra y guarda.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PATRONES EN CLIENTE-SERVIDOR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Dónde encajan en el servidor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673350"/>
            <a:ext cx="1638300" cy="1257300"/>
          </a:xfrm>
          <a:prstGeom prst="roundRect">
            <a:avLst>
              <a:gd name="adj" fmla="val 11616"/>
            </a:avLst>
          </a:prstGeom>
          <a:solidFill>
            <a:srgbClr val="16263D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155391" y="3001082"/>
            <a:ext cx="965729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8162" y="3371850"/>
            <a:ext cx="5202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02000" y="2476500"/>
            <a:ext cx="2286000" cy="1651000"/>
          </a:xfrm>
          <a:prstGeom prst="roundRect">
            <a:avLst>
              <a:gd name="adj" fmla="val 9231"/>
            </a:avLst>
          </a:prstGeom>
          <a:solidFill>
            <a:srgbClr val="0B7A6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93885" y="2842332"/>
            <a:ext cx="1902143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PedidoFacade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46009" y="3213100"/>
            <a:ext cx="7979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73687" y="3530600"/>
            <a:ext cx="154262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sola entrada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6350" y="2101850"/>
            <a:ext cx="1892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735560" y="2151416"/>
            <a:ext cx="11337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Inventario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9312" y="2443516"/>
            <a:ext cx="1066377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Subsistema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0000" y="2984500"/>
            <a:ext cx="1905000" cy="635000"/>
          </a:xfrm>
          <a:prstGeom prst="roundRect">
            <a:avLst>
              <a:gd name="adj" fmla="val 20000"/>
            </a:avLst>
          </a:prstGeom>
          <a:solidFill>
            <a:srgbClr val="F2B84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77224" y="3040416"/>
            <a:ext cx="14505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PagoAdapter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14735" y="3332516"/>
            <a:ext cx="77544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6350" y="3879850"/>
            <a:ext cx="1892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2639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909753" y="3929416"/>
            <a:ext cx="78549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1211" y="4221516"/>
            <a:ext cx="1302491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26550" y="2990850"/>
            <a:ext cx="2146300" cy="622300"/>
          </a:xfrm>
          <a:prstGeom prst="roundRect">
            <a:avLst>
              <a:gd name="adj" fmla="val 19388"/>
            </a:avLst>
          </a:prstGeom>
          <a:solidFill>
            <a:srgbClr val="16263D"/>
          </a:solidFill>
          <a:ln w="12700">
            <a:solidFill>
              <a:srgbClr val="F2B84B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368367" y="3040416"/>
            <a:ext cx="18626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Pasarela externa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97505" y="3332516"/>
            <a:ext cx="140430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de terceros</a:t>
            </a:r>
            <a:endParaRPr lang="en-US" sz="1300" dirty="0"/>
          </a:p>
        </p:txBody>
      </p:sp>
      <p:pic>
        <p:nvPicPr>
          <p:cNvPr id="23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1100" y="3238500"/>
            <a:ext cx="863600" cy="127000"/>
          </a:xfrm>
          <a:prstGeom prst="rect">
            <a:avLst/>
          </a:prstGeom>
        </p:spPr>
      </p:pic>
      <p:pic>
        <p:nvPicPr>
          <p:cNvPr id="2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5300" y="2349500"/>
            <a:ext cx="787400" cy="1016000"/>
          </a:xfrm>
          <a:prstGeom prst="rect">
            <a:avLst/>
          </a:prstGeom>
        </p:spPr>
      </p:pic>
      <p:pic>
        <p:nvPicPr>
          <p:cNvPr id="25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75300" y="3238500"/>
            <a:ext cx="787400" cy="127000"/>
          </a:xfrm>
          <a:prstGeom prst="rect">
            <a:avLst/>
          </a:prstGeom>
        </p:spPr>
      </p:pic>
      <p:pic>
        <p:nvPicPr>
          <p:cNvPr id="26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75300" y="3238500"/>
            <a:ext cx="787400" cy="1016000"/>
          </a:xfrm>
          <a:prstGeom prst="rect">
            <a:avLst/>
          </a:prstGeom>
        </p:spPr>
      </p:pic>
      <p:pic>
        <p:nvPicPr>
          <p:cNvPr id="27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42300" y="3238500"/>
            <a:ext cx="990600" cy="1270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2800" y="4889500"/>
            <a:ext cx="5232400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Facade:</a:t>
            </a: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cliente llama una sola operación.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096000" y="4889500"/>
            <a:ext cx="5441696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Adapter:</a:t>
            </a:r>
            <a:r>
              <a:rPr lang="en-US" sz="1300" dirty="0">
                <a:solidFill>
                  <a:srgbClr val="B9C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traduce la pasarela externa a la interfaz del sistema.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EJEMPLO DE CÓDIGO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servidor y un cliente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7242"/>
            <a:ext cx="5181600" cy="2986881"/>
          </a:xfrm>
          <a:prstGeom prst="roundRect">
            <a:avLst>
              <a:gd name="adj" fmla="val 4252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66800" y="21512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SERVIDOR · NODE.JS + EXPRESS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516981"/>
            <a:ext cx="4813808" cy="2138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express = require(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"express"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app = express();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app.get(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"/api/saludo"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(req, res) =&gt; {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res.json({ mensaje: 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"Hola cliente"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app.listen(3000);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7600" y="1897242"/>
            <a:ext cx="5181600" cy="2986881"/>
          </a:xfrm>
          <a:prstGeom prst="roundRect">
            <a:avLst>
              <a:gd name="adj" fmla="val 4252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51600" y="21512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 · JAVASCRIPT (FETCH)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600" y="2516981"/>
            <a:ext cx="4813808" cy="16102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fetch(</a:t>
            </a:r>
            <a:r>
              <a:rPr lang="en-US" sz="13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"/api/saludo"</a:t>
            </a: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.then((r) =&gt; r.json())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.then((d) =&gt; console.log(d.mensaje));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Resultado en consola: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Hola cliente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5188924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probarlo: ejecuta </a:t>
            </a:r>
            <a:r>
              <a:rPr lang="en-US" sz="13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 servidor.js</a:t>
            </a: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 abre </a:t>
            </a:r>
            <a:r>
              <a:rPr lang="en-US" sz="13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localhost:3000/api/saludo</a:t>
            </a: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el navegador.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B7A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· CÓDIGO CON PATRONES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y Facade en Node.js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95642"/>
            <a:ext cx="5181600" cy="3281451"/>
          </a:xfrm>
          <a:prstGeom prst="roundRect">
            <a:avLst>
              <a:gd name="adj" fmla="val 387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66800" y="19988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B84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· PAGOS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13781"/>
            <a:ext cx="4813808" cy="237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Adapter: traduce cobrar() a la API externa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PagoAdapter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constructor(pasarela)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this.pasarela = pasarela;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cobrar(valor)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this.pasarela.makePayment({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amount: valor * 100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7600" y="1795642"/>
            <a:ext cx="5181600" cy="3281451"/>
          </a:xfrm>
          <a:prstGeom prst="roundRect">
            <a:avLst>
              <a:gd name="adj" fmla="val 3870"/>
            </a:avLst>
          </a:prstGeom>
          <a:solidFill>
            <a:srgbClr val="0F1B2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51600" y="1998842"/>
            <a:ext cx="481380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FACADE · PEDIDO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600" y="2313781"/>
            <a:ext cx="4813808" cy="2585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Facade: una sola operación para el cliente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PedidoFacade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constructor(inv, pagos, db)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Object.assign(this, { inv, pagos, db });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async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comprar(id, valor) {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this.inv.reservar(id);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this.pagos.cobrar(valor);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this.db.guardar(id);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2DD4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 estado: </a:t>
            </a:r>
            <a:r>
              <a:rPr lang="en-US" sz="1200" dirty="0">
                <a:solidFill>
                  <a:srgbClr val="F2B84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"ok"</a:t>
            </a: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};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5280292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solo expone </a:t>
            </a:r>
            <a:r>
              <a:rPr lang="en-US" sz="1300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 /api/comprar</a:t>
            </a:r>
            <a:r>
              <a:rPr lang="en-US" sz="13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el resto queda oculto tras el Facade.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2DD4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· CASOS DE USO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468"/>
            <a:ext cx="10883392" cy="4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¿Cuándo conviene usar cada uno?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08531"/>
          <a:ext cx="10555111" cy="3578930"/>
        </p:xfrm>
        <a:graphic>
          <a:graphicData uri="http://schemas.openxmlformats.org/drawingml/2006/table">
            <a:tbl>
              <a:tblPr/>
              <a:tblGrid>
                <a:gridCol w="2111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8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Conviene cuando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Ejemplo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capas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Hay pocos usuarios y red local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Inventario de una tienda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C64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capas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Hay lógica de negocio y datos propios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Tienda en línea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 capas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Hay mucho tráfico y servicios separados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Banca o video en línea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 interfaz cambia sin recargar la página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Panel de administración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MySQL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Los datos son estructurados y relacionados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Pedidos y clientes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Docker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 entorno debe ser igual en todas partes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Equipo con varios despliegues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Nube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 demanda varía y no hay servidores propios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Tienda con picos de ventas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Adapter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Hay que integrar un servicio con otra interfaz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Pasarela de pagos externa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Facade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 cliente necesita una operación simple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6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Comprar: reserva, cobra y guarda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854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6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96268"/>
            <a:ext cx="10883392" cy="612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pide. El servidor responde.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128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414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 responsabilidades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4689122"/>
            <a:ext cx="2132203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Interfaz, lógica y datos viven en lugares distintos.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721100" y="4079522"/>
            <a:ext cx="2298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Crece con el proyecto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21100" y="4422422"/>
            <a:ext cx="2132203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escala el servidor sin cambiar a los clientes.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elige según la necesidad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4689122"/>
            <a:ext cx="2132203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Tamaño, tráfico y equipo definen las capas y herramientas.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3850922"/>
            <a:ext cx="2527300" cy="1991078"/>
          </a:xfrm>
          <a:prstGeom prst="roundRect">
            <a:avLst>
              <a:gd name="adj" fmla="val 6378"/>
            </a:avLst>
          </a:prstGeom>
          <a:solidFill>
            <a:srgbClr val="084F4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080500" y="4079522"/>
            <a:ext cx="213220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Ordena con Adapter y Facade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80500" y="4689122"/>
            <a:ext cx="2132203" cy="9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Facade simplifica la entrada y el Adapter conecta servicios externos.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61"/>
            <a:ext cx="58864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Arquitectura Cliente-Servidor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3400" y="6238261"/>
            <a:ext cx="6858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quitectura Cliente-Servidor">
  <a:themeElements>
    <a:clrScheme name="Arquitectura Cliente-Servidor">
      <a:dk1>
        <a:srgbClr val="14213D"/>
      </a:dk1>
      <a:lt1>
        <a:srgbClr val="F4F6F8"/>
      </a:lt1>
      <a:dk2>
        <a:srgbClr val="4C566C"/>
      </a:dk2>
      <a:lt2>
        <a:srgbClr val="DEE1E5"/>
      </a:lt2>
      <a:accent1>
        <a:srgbClr val="0B7A6F"/>
      </a:accent1>
      <a:accent2>
        <a:srgbClr val="2DD4BF"/>
      </a:accent2>
      <a:accent3>
        <a:srgbClr val="8FA3BA"/>
      </a:accent3>
      <a:accent4>
        <a:srgbClr val="1B3A5C"/>
      </a:accent4>
      <a:accent5>
        <a:srgbClr val="F2B84B"/>
      </a:accent5>
      <a:accent6>
        <a:srgbClr val="B45309"/>
      </a:accent6>
      <a:hlink>
        <a:srgbClr val="0563C1"/>
      </a:hlink>
      <a:folHlink>
        <a:srgbClr val="954F72"/>
      </a:folHlink>
    </a:clrScheme>
    <a:fontScheme name="Arquitectura Cliente-Servidor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1723</Words>
  <Application>Microsoft Office PowerPoint</Application>
  <PresentationFormat>Panorámica</PresentationFormat>
  <Paragraphs>302</Paragraphs>
  <Slides>15</Slides>
  <Notes>15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DM Sans</vt:lpstr>
      <vt:lpstr>JetBrains Mono</vt:lpstr>
      <vt:lpstr>Arquitectura Cliente-Servidor</vt:lpstr>
      <vt:lpstr>Arquitectura Cliente-Servidor</vt:lpstr>
      <vt:lpstr>¿Qué es y para qué sirve?</vt:lpstr>
      <vt:lpstr>Seis rasgos que la definen</vt:lpstr>
      <vt:lpstr>¿Cómo funciona?</vt:lpstr>
      <vt:lpstr>¿Cómo se organiza?</vt:lpstr>
      <vt:lpstr>Componentes y conexiones</vt:lpstr>
      <vt:lpstr>Una petición en vivo</vt:lpstr>
      <vt:lpstr>Ventajas y desventajas</vt:lpstr>
      <vt:lpstr>Con qué se construye</vt:lpstr>
      <vt:lpstr>Adapter y Facade</vt:lpstr>
      <vt:lpstr>Dónde encajan en el servidor</vt:lpstr>
      <vt:lpstr>Un servidor y un cliente</vt:lpstr>
      <vt:lpstr>Adapter y Facade en Node.js</vt:lpstr>
      <vt:lpstr>¿Cuándo conviene usar cada uno?</vt:lpstr>
      <vt:lpstr>El cliente pide. El servidor responde.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Cliente-Servidor</dc:title>
  <dc:subject/>
  <dc:creator/>
  <cp:lastModifiedBy>Evert Arias Fragozo</cp:lastModifiedBy>
  <cp:revision>2</cp:revision>
  <dcterms:created xsi:type="dcterms:W3CDTF">2026-10-10T03:25:00Z</dcterms:created>
  <dcterms:modified xsi:type="dcterms:W3CDTF">2026-10-10T04:03:45Z</dcterms:modified>
</cp:coreProperties>
</file>