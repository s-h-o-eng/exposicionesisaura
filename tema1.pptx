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Plus Jakarta Sans"/>
      <p:bold r:id="rId20"/>
    </p:embeddedFont>
    <p:embeddedFont>
      <p:font typeface="Space Grotesk"/>
      <p:bold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600" y="4131915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2021234"/>
            <a:ext cx="10715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FUNDAMENTOS DE ARQUITECTURA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06984"/>
            <a:ext cx="11251406" cy="586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FFFFFF"/>
                </a:solidFill>
                <a:latin typeface="Space Grotesk"/>
              </a:rPr>
              <a:t>Arquitectura Cliente-Servidor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22265"/>
            <a:ext cx="6953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Principios, organización por capas, flujos de datos, componentes y tecnologías clave en la informática distribuida.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05500" y="2222152"/>
            <a:ext cx="5676900" cy="3747045"/>
          </a:xfrm>
          <a:prstGeom prst="roundRect">
            <a:avLst>
              <a:gd name="adj" fmla="val 508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362051"/>
            <a:ext cx="4991100" cy="16383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190851"/>
            <a:ext cx="4991100" cy="16383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4702373"/>
            <a:ext cx="4991100" cy="923925"/>
          </a:xfrm>
          <a:prstGeom prst="roundRect">
            <a:avLst>
              <a:gd name="adj" fmla="val 12371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990826"/>
            <a:ext cx="4991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362051"/>
            <a:ext cx="4991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362051"/>
            <a:ext cx="38100" cy="1638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91175" y="2362051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5819626"/>
            <a:ext cx="4991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4190851"/>
            <a:ext cx="4991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4190851"/>
            <a:ext cx="38100" cy="1638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91175" y="4190851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565052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2688877"/>
            <a:ext cx="26670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4892873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533400"/>
            <a:ext cx="90890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419" sz="1050" b="1" i="0" u="none" dirty="0">
                <a:solidFill>
                  <a:srgbClr val="2563EB"/>
                </a:solidFill>
                <a:latin typeface="Plus Jakarta Sans"/>
              </a:rPr>
              <a:t>1 — </a:t>
            </a:r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DEFINICIÓN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¿Qué es la Arquitectura Cliente-Servidor?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El modelo de diseño de software fundamental para la comunicación en 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8400" y="3212752"/>
            <a:ext cx="59436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Plus Jakarta Sans"/>
              </a:rPr>
              <a:t>Concepto Clave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8400" y="3650902"/>
            <a:ext cx="50863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El cliente no procesa la lógica pesada ni almacena los datos globales; simplemente solicita información y la presenta al usuario final.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638276"/>
            <a:ext cx="578822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Modelo de Computación Distribuida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952601"/>
            <a:ext cx="45053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Diseño donde las tareas se reparten entre proveedores de recursos o servicios (servidores) y demandantes (clientes).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67076"/>
            <a:ext cx="578822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Desacoplamiento de Roles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81401"/>
            <a:ext cx="45053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Permite que el cliente y el servidor se ejecuten en dispositivos independientes conectados a través de una 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0325" y="4864298"/>
            <a:ext cx="5781675" cy="20002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Pilar de Internet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325" y="5102423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Sustenta páginas web, aplicaciones móviles, bases de datos y servicios en la nube.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95426"/>
            <a:ext cx="5334000" cy="2800350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695426"/>
            <a:ext cx="5334000" cy="2800350"/>
          </a:xfrm>
          <a:prstGeom prst="roundRect">
            <a:avLst>
              <a:gd name="adj" fmla="val 5442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971651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971651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887" y="3105001"/>
            <a:ext cx="2190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75" y="3105001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414688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729013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5043338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4414688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4729013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5043338"/>
            <a:ext cx="13335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88192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419" sz="1050" b="1" i="0" u="none" dirty="0">
                <a:solidFill>
                  <a:srgbClr val="2563EB"/>
                </a:solidFill>
                <a:latin typeface="Plus Jakarta Sans"/>
              </a:rPr>
              <a:t>1 — </a:t>
            </a:r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COMPONENTES PRINCIPALES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Los Dos Roles del Sistema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División explícita de responsabilidades entre emisor y receptor.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581251"/>
            <a:ext cx="6275784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El Cliente (Front-End)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981301"/>
            <a:ext cx="5976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Dispositivo o aplicación que inicia peticiones de servicio.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3581251"/>
            <a:ext cx="56673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El Servidor (Back-End)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625" y="3981301"/>
            <a:ext cx="566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Sistema que procesa solicitudes y provee recursos o datos.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425" y="4390876"/>
            <a:ext cx="5748337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Rol Activo: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Inicia la comunicación.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425" y="4705201"/>
            <a:ext cx="5748337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Interfaz: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Muestra resultados al usuario.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425" y="5019526"/>
            <a:ext cx="5748337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Ejemplos: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Navegadores, apps móviles, PCs.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3225" y="4390876"/>
            <a:ext cx="54387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Rol Pasivo: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Espera solicitudes entrantes.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3225" y="4705201"/>
            <a:ext cx="54387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Procesamiento: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Ejecuta lógica y valida datos.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3225" y="5019526"/>
            <a:ext cx="5438775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Ejemplos: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Servidores Web, Nube, Bases de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14513"/>
            <a:ext cx="3505200" cy="2162175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14513"/>
            <a:ext cx="3505200" cy="2162175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14513"/>
            <a:ext cx="3505200" cy="2162175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90738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90738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90738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3424088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975" y="3424088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2962" y="3424088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91210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2 — PROPÓSITO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¿Para qué sirve esta Arquitectura?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Objetivos operacionales que resuelven los problemas centrales de la informática.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900338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Centralización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214663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Permite gestionar datos y reglas de negocio en un solo punto seguro sin duplicar lógica en cada dispositivo.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900338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Escalabilidad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4214663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Facilita el aumento de capacidad del servidor o del número de clientes sin alterar el funcionamiento global.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900338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Acceso Concurrente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4214663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Habilita a miles de usuarios simultáneos a consultar y actualizar recursos compartidos en tiempo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19188"/>
            <a:ext cx="5372100" cy="1209675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319188"/>
            <a:ext cx="5372100" cy="1209675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62338"/>
            <a:ext cx="5372100" cy="1209675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662338"/>
            <a:ext cx="5372100" cy="1209675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595413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525" y="2595413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4938563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525" y="4938563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" y="2728763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875" y="2728763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5071913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687" y="5071913"/>
            <a:ext cx="1428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07882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2 — CASOS DE USO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Aplicaciones Prácticas Diarias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Sistemas modernos construidos sobre el modelo cliente-servidor.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3525" y="2595413"/>
            <a:ext cx="54756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Sitios y Aplicaciones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3525" y="2852588"/>
            <a:ext cx="4267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Navegadores solicitando páginas HTML, imágenes y servicios a servidores web remotos.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4225" y="2595413"/>
            <a:ext cx="5057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Servicios de Correo Electrónico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4225" y="2852588"/>
            <a:ext cx="4267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Clientes de correo (Outlook, Gmail) sincronizando mensajes mediante IMAP o SMTP.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3525" y="4938563"/>
            <a:ext cx="54756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Sistemas Bancarios y ERPs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3525" y="5195738"/>
            <a:ext cx="4267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Cajeros y terminales consultando balances e historial en bases de datos centrales.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4225" y="4938563"/>
            <a:ext cx="5057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Plataformas de 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4225" y="5195738"/>
            <a:ext cx="4267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Dispositivos reproduciendo video entregado en fragmentos desde servidores CDN.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85963"/>
            <a:ext cx="2364581" cy="1819275"/>
          </a:xfrm>
          <a:prstGeom prst="roundRect">
            <a:avLst>
              <a:gd name="adj" fmla="val 83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79006" y="3185963"/>
            <a:ext cx="2364581" cy="1819275"/>
          </a:xfrm>
          <a:prstGeom prst="roundRect">
            <a:avLst>
              <a:gd name="adj" fmla="val 83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48412" y="3095476"/>
            <a:ext cx="2364581" cy="200025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17818" y="3076426"/>
            <a:ext cx="2364581" cy="2038350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681" y="4014638"/>
            <a:ext cx="1238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4014638"/>
            <a:ext cx="12382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493" y="4014638"/>
            <a:ext cx="12382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32247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3 — FUNCIONAMIENTO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El Ciclo Solicitud-Respuesta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Secuencia paso a paso que ocurre en cada interacción entre cliente y servidor.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462188"/>
            <a:ext cx="226516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PASO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709838"/>
            <a:ext cx="237842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Petición (Request)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005113"/>
            <a:ext cx="1907381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El cliente genera una solicitud codificada (ej. HTTP GET /datos) iniciada por el usuario.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5231" y="3462188"/>
            <a:ext cx="226516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PASO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5231" y="3709838"/>
            <a:ext cx="237842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Transmisión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5231" y="4005113"/>
            <a:ext cx="1907381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La solicitud viaja en paquetes a través de la red (Internet/LAN) mediante TCP/IP.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4637" y="3371701"/>
            <a:ext cx="226516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PASO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4637" y="3619351"/>
            <a:ext cx="237842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Procesamiento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4637" y="3914626"/>
            <a:ext cx="1907381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El servidor recibe la petición, valida credenciales, ejecuta lógica y consulta la base de datos.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4043" y="3352651"/>
            <a:ext cx="226516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PASO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4043" y="3600301"/>
            <a:ext cx="20027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Respuesta (Response)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4043" y="4114651"/>
            <a:ext cx="1907381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El servidor devuelve los datos o un código de estado (ej. 200 OK) para que el cliente los rinda.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21557"/>
            <a:ext cx="5372100" cy="1504950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321569"/>
            <a:ext cx="5372100" cy="1304925"/>
          </a:xfrm>
          <a:prstGeom prst="roundRect">
            <a:avLst>
              <a:gd name="adj" fmla="val 116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64719"/>
            <a:ext cx="5372100" cy="1304925"/>
          </a:xfrm>
          <a:prstGeom prst="roundRect">
            <a:avLst>
              <a:gd name="adj" fmla="val 116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664719"/>
            <a:ext cx="5372100" cy="1304925"/>
          </a:xfrm>
          <a:prstGeom prst="roundRect">
            <a:avLst>
              <a:gd name="adj" fmla="val 116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00575" y="2502544"/>
            <a:ext cx="1104900" cy="2286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06075" y="2602557"/>
            <a:ext cx="800100" cy="2286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43450" y="4945707"/>
            <a:ext cx="962025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53700" y="4945707"/>
            <a:ext cx="752475" cy="22860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02431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3 — PROTOCOLOS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Protocolos de Comunicación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Reglas estandarizadas que permiten el entendimiento entre diferentes dispositivos.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850207"/>
            <a:ext cx="49149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Protocolo sin estado para transferencia de hipertexto. Fundamento de las comunicaciones web modernas en puerto 80/443.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2950219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Garantiza la entrega ordenada y sin errores de los paquetes de datos a través de la infraestructura física de 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5293369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Canal bidireccional permanente sobre una sola conexión TCP. Utilizado en chats, juegos y cotizaciones financieras.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5293369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Protocolo optimizado para la transferencia masiva y segura de archivos entre sistemas clientes y servidores dedicados.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2497782"/>
            <a:ext cx="163770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HTTP / HTTPS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4875" y="2540644"/>
            <a:ext cx="971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Plus Jakarta Sans"/>
              </a:rPr>
              <a:t>Web 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2597794"/>
            <a:ext cx="105013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TCP / 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20375" y="2640657"/>
            <a:ext cx="6667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30A3"/>
                </a:solidFill>
                <a:latin typeface="Plus Jakarta Sans"/>
              </a:rPr>
              <a:t>Red 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4940944"/>
            <a:ext cx="155019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WebSockets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7750" y="4983807"/>
            <a:ext cx="828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2400E"/>
                </a:solidFill>
                <a:latin typeface="Plus Jakarta Sans"/>
              </a:rPr>
              <a:t>Tiempo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6525" y="4940944"/>
            <a:ext cx="133016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FTP / SFTP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8000" y="4983807"/>
            <a:ext cx="619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B21A8"/>
                </a:solidFill>
                <a:latin typeface="Plus Jakarta Sans"/>
              </a:rPr>
              <a:t>Archivos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3538"/>
            <a:ext cx="5334000" cy="2524125"/>
          </a:xfrm>
          <a:prstGeom prst="roundRect">
            <a:avLst>
              <a:gd name="adj" fmla="val 60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33538"/>
            <a:ext cx="5334000" cy="2524125"/>
          </a:xfrm>
          <a:prstGeom prst="roundRect">
            <a:avLst>
              <a:gd name="adj" fmla="val 60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09763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109763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62" y="3243113"/>
            <a:ext cx="2381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75" y="3243113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338488"/>
            <a:ext cx="13335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633763"/>
            <a:ext cx="133350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4929038"/>
            <a:ext cx="13335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4338488"/>
            <a:ext cx="13335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4633763"/>
            <a:ext cx="13335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4929038"/>
            <a:ext cx="133350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27438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 4 — TIPOS DE CLIENTE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Cliente Pesado vs. Cliente Delgado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Clasificación según la distribución de la carga de procesamiento.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719363"/>
            <a:ext cx="4876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Ejecuta la mayor parte de la lógica de aplicación e interfaz de forma local en el dispositivo del usuario.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3719363"/>
            <a:ext cx="4876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Realiza un procesamiento mínimo local; actúa principalmente como interfaz para mostrar resultados del servidor.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7325" y="3205013"/>
            <a:ext cx="355044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Cliente Pesado (Fat Client)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309913"/>
            <a:ext cx="5976937" cy="1809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Procesa datos sin conexión constante.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4605188"/>
            <a:ext cx="5976937" cy="1809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Aprovecha el hardware local (GPU/CPU).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4900463"/>
            <a:ext cx="5976937" cy="1809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Mantenimiento y actualización más complejos.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6125" y="3205013"/>
            <a:ext cx="38004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Cliente Delgado (Thin Client)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5" y="4309913"/>
            <a:ext cx="5667375" cy="1809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Mantenimiento centralizado en el servidor.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5" y="4605188"/>
            <a:ext cx="5667375" cy="1809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Requisitos bajos de hardware en el cliente.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625" y="4900463"/>
            <a:ext cx="5667375" cy="1809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Dependencia total de la red de comunicación.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31905" y="2985938"/>
            <a:ext cx="5150494" cy="2219325"/>
          </a:xfrm>
          <a:prstGeom prst="roundRect">
            <a:avLst>
              <a:gd name="adj" fmla="val 68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04976"/>
            <a:ext cx="5517505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333726"/>
            <a:ext cx="5517505" cy="9525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705" y="3266926"/>
            <a:ext cx="25717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855" y="4695676"/>
            <a:ext cx="200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81139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4 — ORGANIZACIÓN POR CAPAS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Arquitectura de 2 Capas (2-Tier)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Modelo directo donde la interfaz interactúa sin intermediarios con los datos.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80088" y="4009876"/>
            <a:ext cx="6896881" cy="17145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Plus Jakarta Sans"/>
              </a:rPr>
              <a:t>Conexión Directa SQL / Protocolo Propietario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8130" y="3262163"/>
            <a:ext cx="548386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Características Principales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8130" y="3614588"/>
            <a:ext cx="469329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Estructura Simple: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Fácil de diseñar e implementar en entornos pequeños.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8130" y="4090838"/>
            <a:ext cx="469329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Baja Latencia Inicial: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Sin intermediarios entre la app y la base de datos.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8130" y="4567088"/>
            <a:ext cx="469329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Limitación de Escalabilidad: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Dificultad para manejar miles de conexiones simultáneas directamente al DBMS.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181201"/>
            <a:ext cx="35754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Capa 1: Cliente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400276"/>
            <a:ext cx="3405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Interfaz de Usuario + Lógica de Negocio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609951"/>
            <a:ext cx="296287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Capa 2: Servidor de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4829026"/>
            <a:ext cx="28217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Base de Datos Relacional (DBMS)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12157"/>
            <a:ext cx="3505200" cy="1766887"/>
          </a:xfrm>
          <a:prstGeom prst="roundRect">
            <a:avLst>
              <a:gd name="adj" fmla="val 86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12157"/>
            <a:ext cx="3505200" cy="1766887"/>
          </a:xfrm>
          <a:prstGeom prst="roundRect">
            <a:avLst>
              <a:gd name="adj" fmla="val 86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212157"/>
            <a:ext cx="3505200" cy="1766887"/>
          </a:xfrm>
          <a:prstGeom prst="roundRect">
            <a:avLst>
              <a:gd name="adj" fmla="val 86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96951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212157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212157"/>
            <a:ext cx="9525" cy="1766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05275" y="3212157"/>
            <a:ext cx="9525" cy="1766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496951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3212157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3212157"/>
            <a:ext cx="9525" cy="1766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39075" y="3212157"/>
            <a:ext cx="9525" cy="1766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77200" y="496951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77200" y="3212157"/>
            <a:ext cx="35052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77200" y="3212157"/>
            <a:ext cx="9525" cy="1766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72875" y="3212157"/>
            <a:ext cx="9525" cy="1766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9600" y="533400"/>
            <a:ext cx="181139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4 — ORGANIZACIÓN POR CAPAS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Arquitectura de 3 Capas (3-Tier)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El estándar de la industria web desacoplado en tres responsabilidades.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3516957"/>
            <a:ext cx="3690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CAPA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3745557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Presentación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4059882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Interfaz gráfica del cliente. Renderiza componentes y captura eventos del usuario.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9625" y="3516957"/>
            <a:ext cx="3690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CAPA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9625" y="3745557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Lógica de Negocio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9625" y="4059882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Servidor de aplicaciones que procesa reglas, validaciones y coordina flujos de trabajo.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3425" y="3516957"/>
            <a:ext cx="3690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CAPA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3425" y="3745557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Capa de Datos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3425" y="4059882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Bases de datos donde residen la persistencia, transacciones y almacenamiento masivo.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57263"/>
            <a:ext cx="53340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500288"/>
            <a:ext cx="53340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843313"/>
            <a:ext cx="53340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190601"/>
            <a:ext cx="5334000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59498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4 — EVOLUCIÓN AVANZADA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Arquitectura N-Capas y Microservicios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Sistemas distribuidos complejos para entornos de alta escala empresarial.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2433488"/>
            <a:ext cx="62757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Caché y CDN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709713"/>
            <a:ext cx="4876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Capas intermedias (Redis, Cloudflare) que aceleran lecturas y reducen carga al origen.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776513"/>
            <a:ext cx="62757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API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052738"/>
            <a:ext cx="4876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Punto único de entrada que autentica, enruta y distribuye solicitudes entre servicios.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5119538"/>
            <a:ext cx="62757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Microservicios Independientes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5395763"/>
            <a:ext cx="4876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Descomposición de la lógica en servicios pequeños autónomos con sus propias bases de datos.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866751"/>
            <a:ext cx="10972800" cy="4457848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0125" y="3366938"/>
            <a:ext cx="1238250" cy="800100"/>
          </a:xfrm>
          <a:prstGeom prst="roundRect">
            <a:avLst>
              <a:gd name="adj" fmla="val 14285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0125" y="4357538"/>
            <a:ext cx="1238250" cy="800100"/>
          </a:xfrm>
          <a:prstGeom prst="roundRect">
            <a:avLst>
              <a:gd name="adj" fmla="val 14285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87525" y="4176563"/>
            <a:ext cx="9525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89176" y="3719363"/>
            <a:ext cx="1333500" cy="1009650"/>
          </a:xfrm>
          <a:prstGeom prst="roundRect">
            <a:avLst>
              <a:gd name="adj" fmla="val 1132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71827" y="4176563"/>
            <a:ext cx="9525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73478" y="3776513"/>
            <a:ext cx="1333500" cy="971550"/>
          </a:xfrm>
          <a:prstGeom prst="roundRect">
            <a:avLst>
              <a:gd name="adj" fmla="val 11764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56128" y="4176563"/>
            <a:ext cx="9525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57779" y="3786038"/>
            <a:ext cx="1333500" cy="876300"/>
          </a:xfrm>
          <a:prstGeom prst="roundRect">
            <a:avLst>
              <a:gd name="adj" fmla="val 13043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5" y="3538388"/>
            <a:ext cx="1714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0" y="4528988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626" y="3909863"/>
            <a:ext cx="2286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5928" y="3947963"/>
            <a:ext cx="22860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517" y="3995588"/>
            <a:ext cx="200025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178253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5 — REPRESENTACIÓN GRÁFICA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Diagrama de Componentes y Conexiones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Esquema estructural de la interacción de componentes en la 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7787" y="3033563"/>
            <a:ext cx="8286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CLIENTES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7538" y="3995588"/>
            <a:ext cx="10382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HTTPS / 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8251" y="3462188"/>
            <a:ext cx="11811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RED /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814" y="3995588"/>
            <a:ext cx="676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Interno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753" y="3443138"/>
            <a:ext cx="1028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SERVIDORES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7103" y="3995588"/>
            <a:ext cx="8763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A34A"/>
                </a:solidFill>
                <a:latin typeface="Plus Jakarta Sans"/>
              </a:rPr>
              <a:t>Driver 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4954" y="3528863"/>
            <a:ext cx="11049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PERSISTENCIA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6516" y="3824138"/>
            <a:ext cx="78547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0F172A"/>
                </a:solidFill>
                <a:latin typeface="Plus Jakarta Sans"/>
              </a:rPr>
              <a:t>App </a:t>
            </a:r>
            <a:r>
              <a:rPr lang="es-MX" sz="1050" b="1" i="0" u="none" dirty="0">
                <a:solidFill>
                  <a:srgbClr val="0F172A"/>
                </a:solidFill>
                <a:latin typeface="Plus Jakarta Sans"/>
              </a:rPr>
              <a:t>Teléfono</a:t>
            </a:r>
            <a:r>
              <a:rPr sz="1050" b="1" i="0" u="none" dirty="0">
                <a:solidFill>
                  <a:srgbClr val="0F172A"/>
                </a:solidFill>
                <a:latin typeface="Plus Jakarta Sans"/>
              </a:rPr>
              <a:t>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5482" y="4814738"/>
            <a:ext cx="60753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MX" sz="1050" b="1" dirty="0">
                <a:solidFill>
                  <a:srgbClr val="0F172A"/>
                </a:solidFill>
                <a:latin typeface="Plus Jakarta Sans"/>
              </a:rPr>
              <a:t>Navegador</a:t>
            </a:r>
            <a:endParaRPr sz="10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98701" y="4195613"/>
            <a:ext cx="13144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Balanceador / Firewall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2053" y="4233713"/>
            <a:ext cx="1276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Servidor de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86354" y="4281338"/>
            <a:ext cx="1276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Base de Datos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28713"/>
            <a:ext cx="53721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328713"/>
            <a:ext cx="53721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71863"/>
            <a:ext cx="53721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671863"/>
            <a:ext cx="53721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50981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32871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328713"/>
            <a:ext cx="38100" cy="11906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72175" y="2328713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350981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300" y="232871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0300" y="2328713"/>
            <a:ext cx="38100" cy="11906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572875" y="2328713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585296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600" y="467186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4671863"/>
            <a:ext cx="38100" cy="11906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72175" y="4671863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0300" y="585296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0300" y="467186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0300" y="4671863"/>
            <a:ext cx="38100" cy="11906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572875" y="4671863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43038"/>
            <a:ext cx="17145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2643038"/>
            <a:ext cx="1714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986188"/>
            <a:ext cx="17145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4986188"/>
            <a:ext cx="171450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9600" y="533400"/>
            <a:ext cx="99225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6 — EVALUACIÓN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Ventajas Principales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Razones clave para la adopción masiva de este modelo.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604938"/>
            <a:ext cx="6288285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Administración Centralizada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881163"/>
            <a:ext cx="48863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Facilita las actualizaciones, respaldos de datos y parches de seguridad desde un solo servidor.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5100" y="2604938"/>
            <a:ext cx="5676900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Seguridad Mejorada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5100" y="2881163"/>
            <a:ext cx="48863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Los permisos y el control de acceso se aplican en el servidor, impidiendo la manipulación desde el cliente.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48088"/>
            <a:ext cx="6288285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Escalabilidad Modular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24313"/>
            <a:ext cx="48863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Permite mejorar el hardware del servidor o actualizar los clientes de forma completamente independiente.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5100" y="4948088"/>
            <a:ext cx="5676900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Optimización de Recursos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5100" y="5224313"/>
            <a:ext cx="48863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Los clientes no necesitan gran capacidad de procesamiento para utilizar software complejo en la nube.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28713"/>
            <a:ext cx="53721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328713"/>
            <a:ext cx="53721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71863"/>
            <a:ext cx="53721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671863"/>
            <a:ext cx="53721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50981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32871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328713"/>
            <a:ext cx="38100" cy="11906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72175" y="2328713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350981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300" y="232871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0300" y="2328713"/>
            <a:ext cx="38100" cy="11906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572875" y="2328713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585296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600" y="467186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4671863"/>
            <a:ext cx="38100" cy="11906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72175" y="4671863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0300" y="585296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0300" y="4671863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0300" y="4671863"/>
            <a:ext cx="38100" cy="11906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572875" y="4671863"/>
            <a:ext cx="9525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43038"/>
            <a:ext cx="17145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2643038"/>
            <a:ext cx="1714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986188"/>
            <a:ext cx="17145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4986188"/>
            <a:ext cx="171450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9600" y="533400"/>
            <a:ext cx="99225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6 — EVALUACIÓN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Desventajas y Desafíos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Riesgos de diseño y limitaciones técnicas que deben mitigarse.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604938"/>
            <a:ext cx="6288285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Punto Único de Fallo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881163"/>
            <a:ext cx="48863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Si el servidor principal se cae o queda inoperativo, todos los clientes pierden acceso al servicio.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5100" y="2604938"/>
            <a:ext cx="5676900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Congestión de 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5100" y="2881163"/>
            <a:ext cx="48863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Un alto volumen de peticiones simultáneas puede saturar el servidor y generar cuellos de botella.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48088"/>
            <a:ext cx="6288285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Costos de Infraestructura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24313"/>
            <a:ext cx="48863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Servidores de alto rendimiento, almacenamiento redundante y seguridad representan inversiones elevadas.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5100" y="4948088"/>
            <a:ext cx="5676900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Dependencia de la 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5100" y="5224313"/>
            <a:ext cx="48863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Requiere una conexión constante y estable; fallas en el proveedor de red inutilizan la aplicación.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09726"/>
            <a:ext cx="3505200" cy="257175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19238"/>
            <a:ext cx="3505200" cy="2752725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00213"/>
            <a:ext cx="3505200" cy="2390775"/>
          </a:xfrm>
          <a:prstGeom prst="roundRect">
            <a:avLst>
              <a:gd name="adj" fmla="val 63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85951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995463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176438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3219301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3128813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6300" y="3309788"/>
            <a:ext cx="17145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82101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7 — ECOSISTEMA TECNOLÓGICO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Stack de Desarrollo Moderno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Herramientas y frameworks utilizados para construir cada componente.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695551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Front-End (Cliente)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605063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Back-End (Servidor)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786038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Bases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047976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React / Vue / Angular: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Interfaces web dinámicas.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4486126"/>
            <a:ext cx="3690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Swift / Kotlin: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Apps móviles nativas.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4743301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HTML5, CSS3, JavaScript: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Estándares del navegador.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9625" y="3957488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Node.js / Express: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Servidores de eventos asíncronos.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9625" y="4395638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Python (FastAPI / Django):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Lógica y analítica.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5" y="4833788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Java / Spring Boot: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Sistemas empresariales.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3425" y="4138463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SQL (PostgreSQL, MySQL):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Datos relacionales.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3425" y="4576613"/>
            <a:ext cx="3690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NoSQL (MongoDB):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Documentos flexibles.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3425" y="4833788"/>
            <a:ext cx="3690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Redis: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Caché de ultra alta velocidad.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48400" y="2185838"/>
            <a:ext cx="53340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509813"/>
            <a:ext cx="53340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4833788"/>
            <a:ext cx="5334000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85851"/>
            <a:ext cx="53340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33850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7 — INFRAESTRUCTURA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Servicios en la Nube y DevOps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Plataformas que hospedan y escalan servidores modernos.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462063"/>
            <a:ext cx="566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Proveedores Cloud (AWS, Azure, GCP)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2719238"/>
            <a:ext cx="4876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Infraestructura bajo demanda sin necesidad de administrar servidores físicos locales.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786038"/>
            <a:ext cx="566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Contenedores y Orquestación (Docker, K8s)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4043213"/>
            <a:ext cx="4876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Empaquetado de aplicaciones de servidor para despliegue consistente e inmediato.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5110013"/>
            <a:ext cx="5667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Serverless (AWS Lambda, Cloud Functions)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5367188"/>
            <a:ext cx="4876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Ejecución de código en respuesta a eventos sin aprovisionar servidores permanentes.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21657"/>
            <a:ext cx="3505200" cy="2147887"/>
          </a:xfrm>
          <a:prstGeom prst="roundRect">
            <a:avLst>
              <a:gd name="adj" fmla="val 70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21657"/>
            <a:ext cx="3505200" cy="2147887"/>
          </a:xfrm>
          <a:prstGeom prst="roundRect">
            <a:avLst>
              <a:gd name="adj" fmla="val 70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21657"/>
            <a:ext cx="3505200" cy="2147887"/>
          </a:xfrm>
          <a:prstGeom prst="roundRect">
            <a:avLst>
              <a:gd name="adj" fmla="val 70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16001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021657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021657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05275" y="3021657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516001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3021657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3021657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39075" y="3021657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77200" y="5160019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77200" y="3021657"/>
            <a:ext cx="35052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77200" y="3021657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72875" y="3021657"/>
            <a:ext cx="9525" cy="2147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26457"/>
            <a:ext cx="4572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326457"/>
            <a:ext cx="457200" cy="457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326457"/>
            <a:ext cx="457200" cy="457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362" y="3459807"/>
            <a:ext cx="23812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975" y="3459807"/>
            <a:ext cx="19050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2962" y="3459807"/>
            <a:ext cx="238125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600" y="533400"/>
            <a:ext cx="99706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8 — CONCLUSIÓN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8191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¿En qué Situaciones Conviene Utilizarla?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1283940"/>
            <a:ext cx="115824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Criterios clave de decisión arquitectónica.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" y="3936057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Sistemas Multi-usuario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825" y="4250382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Ideal cuando múltiples usuarios necesitan consultar o editar los mismos datos de manera simultánea e interactiva.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9625" y="3936057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Datos Sensibles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9625" y="4250382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Indispensable cuando la información requiere auditoría estricta, respaldo constante y control centralizado.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3425" y="3936057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Plataformas SaaS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3425" y="4250382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La mejor opción para ofrecer productos de software accesibles globalmente desde cualquier navegador o app.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7375" y="4533900"/>
            <a:ext cx="9525" cy="6286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33500" y="1695450"/>
            <a:ext cx="952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RESUMEN DE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1981200"/>
            <a:ext cx="10001250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FFFFFF"/>
                </a:solidFill>
                <a:latin typeface="Space Grotesk"/>
              </a:rPr>
              <a:t>El Pilar Fundamental del Software Moderno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238500"/>
            <a:ext cx="9525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La arquitectura cliente-servidor sigue siendo la base sobre la que se construye la economía digital, conectando millones de usuarios con servicios centralizados, seguros y escalables.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25490" y="4533900"/>
            <a:ext cx="1512093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38BDF8"/>
                </a:solidFill>
                <a:latin typeface="Plus Jakarta Sans"/>
              </a:rPr>
              <a:t>99% </a:t>
            </a:r>
            <a:r>
              <a:rPr sz="1050" b="1" i="0" u="none">
                <a:solidFill>
                  <a:srgbClr val="64748B"/>
                </a:solidFill>
                <a:latin typeface="Plus Jakarta Sans"/>
              </a:rPr>
              <a:t>de la Web 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0725" y="4533900"/>
            <a:ext cx="2571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38BDF8"/>
                </a:solidFill>
                <a:latin typeface="Plus Jakarta Sans"/>
              </a:rPr>
              <a:t>24 / 7 </a:t>
            </a:r>
            <a:r>
              <a:rPr sz="1050" b="1" i="0" u="none">
                <a:solidFill>
                  <a:srgbClr val="64748B"/>
                </a:solidFill>
                <a:latin typeface="Plus Jakarta Sans"/>
              </a:rPr>
              <a:t>Disponibilidad Centralizada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1509</Words>
  <Application>Microsoft Office PowerPoint</Application>
  <PresentationFormat>Panorámica</PresentationFormat>
  <Paragraphs>198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Space Grotesk</vt:lpstr>
      <vt:lpstr>Calibri</vt:lpstr>
      <vt:lpstr>Plus Jakarta Sans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Aprendiz</dc:creator>
  <cp:keywords/>
  <dc:description>generated using python-pptx</dc:description>
  <cp:lastModifiedBy>Gisel lorena mosquera fierro</cp:lastModifiedBy>
  <cp:revision>2</cp:revision>
  <dcterms:created xsi:type="dcterms:W3CDTF">2013-01-27T09:14:16Z</dcterms:created>
  <dcterms:modified xsi:type="dcterms:W3CDTF">2026-10-09T14:56:03Z</dcterms:modified>
  <cp:category/>
</cp:coreProperties>
</file>