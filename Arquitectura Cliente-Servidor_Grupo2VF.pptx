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58" r:id="rId6"/>
    <p:sldId id="261" r:id="rId7"/>
    <p:sldId id="263" r:id="rId8"/>
    <p:sldId id="264" r:id="rId9"/>
    <p:sldId id="262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90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Grupo 3. Tema: arquitectura cliente-servidor. Patrón de diseño: Adapter y Facade, aplicados al backend. Exposición: 13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cliente pide, servidor responde por una red. Sirve para centralizar datos, atender muchos usuarios y separar interfaz de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en cuatro pasos: petición, proceso, acceso a datos y respuesta. El ejemplo muestra una petición GET y su respuesta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formas de organizar: 2 capas (cliente y datos), 3 capas (presentación, lógica, datos) y N capas con servicios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características: red, petición-respuesta, servidor centralizado, múltiples clientes, escalabilidad y control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Diagrama: varios clientes se conectan por Internet con un servidor API, que a su vez consulta la base de datos. La flecha verde es la petición y la ámbar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Ventajas: centralización, mantenimiento, escalabilidad y un backend compartido. Desventajas: punto único de falla, saturación, dependencia de red y costos.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Pila típica: React en el cliente, Node.js con Express como servidor, MySQL para los datos, Docker para empaquetar y la nube para desplegar. HTTP, REST y JSON conectan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Simulación animada del ciclo completo: el cliente envía GET, el servidor consulta la base de datos y devuelve 200 OK con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 y Facade son patrones estructurales. El Adapter traduce una interfaz a otra (por ejemplo, una pasarela de pagos externa). El Facade esconde varios subsistemas detrás de una sola operación simple. Ambos encajan en el servidor de una arquitectura cliente-servidor.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Facade es la puerta de entrada del servidor: el cliente hace una sola petición y el Facade coordina inventario, pagos y base de datos. El Adapter protege al servidor de servicios externos, como una pasarela de pagos, traduciendo su interfaz a la que el sistema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PagoAdapter recibe cobrar(valor) y lo traduce a makePayment de la pasarela externa. El PedidoFacade junta tres pasos (reservar, cobrar y guardar) en comprar(). La ruta POST /api/comprar solo llama a pedido.comprar(); el cliente no conoce los subsistemas.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rápida para elegir: la arquitectura según el tamaño del proyecto, cada tecnología según la necesidad y los patrones Adapter y Facade según el problema que resuelven.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arquitectura cliente-servidor es la base del backend moderno. Separar responsabilidades, poder escalar y elegir según la necesidad son sus ideas clave, y los patrones Adapter y Facade mantienen el servidor ordenado.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566400" cy="44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7239"/>
            <a:ext cx="10566400" cy="4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566400" cy="44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7239"/>
            <a:ext cx="10566400" cy="4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03626"/>
            <a:ext cx="654050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DESARROLLO BACKEND · ADAPTER Y FACADE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37896"/>
            <a:ext cx="6540500" cy="119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014435"/>
            <a:ext cx="6540500" cy="665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se comunican las aplicaciones modernas, del navegador a la base de datos.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72350" y="2292350"/>
            <a:ext cx="1384300" cy="1257300"/>
          </a:xfrm>
          <a:prstGeom prst="roundRect">
            <a:avLst>
              <a:gd name="adj" fmla="val 11616"/>
            </a:avLst>
          </a:prstGeom>
          <a:solidFill>
            <a:srgbClr val="16263D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581591" y="2620081"/>
            <a:ext cx="965729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71634" y="2990850"/>
            <a:ext cx="98573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88550" y="2292350"/>
            <a:ext cx="1384300" cy="1257300"/>
          </a:xfrm>
          <a:prstGeom prst="roundRect">
            <a:avLst>
              <a:gd name="adj" fmla="val 11616"/>
            </a:avLst>
          </a:prstGeom>
          <a:solidFill>
            <a:srgbClr val="16263D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114289" y="2620081"/>
            <a:ext cx="1132734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6562" y="2990850"/>
            <a:ext cx="10282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+ datos</a:t>
            </a:r>
            <a:endParaRPr lang="en-US" sz="1300" dirty="0"/>
          </a:p>
        </p:txBody>
      </p:sp>
      <p:pic>
        <p:nvPicPr>
          <p:cNvPr id="11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0300" y="2667000"/>
            <a:ext cx="1244600" cy="127000"/>
          </a:xfrm>
          <a:prstGeom prst="rect">
            <a:avLst/>
          </a:prstGeom>
        </p:spPr>
      </p:pic>
      <p:pic>
        <p:nvPicPr>
          <p:cNvPr id="12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0300" y="3048000"/>
            <a:ext cx="1244600" cy="127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2800" y="6238258"/>
            <a:ext cx="78486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Pinto Acosta, Herrera Obando, Evert Arias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CONCEPTO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es y para qué sirve?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7239"/>
            <a:ext cx="5975967" cy="3944761"/>
          </a:xfrm>
          <a:prstGeom prst="roundRect">
            <a:avLst>
              <a:gd name="adj" fmla="val 386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68400" y="2873552"/>
            <a:ext cx="542271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8400" y="3307821"/>
            <a:ext cx="5422710" cy="9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en el que un cliente pide servicios o datos y un servidor los procesa y responde a través de una red.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1575" y="4474104"/>
            <a:ext cx="1851731" cy="388408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6350">
            <a:solidFill>
              <a:srgbClr val="2DD4B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Cliente: quien pide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31256" y="4474104"/>
            <a:ext cx="2357967" cy="388408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6350">
            <a:solidFill>
              <a:srgbClr val="F2B84B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Servidor: quien responde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1968" y="1897239"/>
            <a:ext cx="451885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SIRVE PARA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43" y="2283883"/>
            <a:ext cx="4380883" cy="1079147"/>
          </a:xfrm>
          <a:prstGeom prst="roundRect">
            <a:avLst>
              <a:gd name="adj" fmla="val 1147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0" descr="Database"/>
          <p:cNvPicPr>
            <a:picLocks noChangeAspect="1"/>
          </p:cNvPicPr>
          <p:nvPr/>
        </p:nvPicPr>
        <p:blipFill>
          <a:blip r:embed="rId3"/>
          <a:srcRect l="-439" r="-439"/>
          <a:stretch/>
        </p:blipFill>
        <p:spPr>
          <a:xfrm>
            <a:off x="7200812" y="2645657"/>
            <a:ext cx="313884" cy="355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67096" y="2575807"/>
            <a:ext cx="3608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Centralizar los datos y las reglas del negocio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95143" y="3521780"/>
            <a:ext cx="4380883" cy="1079147"/>
          </a:xfrm>
          <a:prstGeom prst="roundRect">
            <a:avLst>
              <a:gd name="adj" fmla="val 1147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00812" y="3883554"/>
            <a:ext cx="355600" cy="355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08812" y="3937529"/>
            <a:ext cx="36640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Atender a muchos usuarios a la vez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995143" y="4759678"/>
            <a:ext cx="4380883" cy="1079147"/>
          </a:xfrm>
          <a:prstGeom prst="roundRect">
            <a:avLst>
              <a:gd name="adj" fmla="val 1147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2" descr="Code"/>
          <p:cNvPicPr>
            <a:picLocks noChangeAspect="1"/>
          </p:cNvPicPr>
          <p:nvPr/>
        </p:nvPicPr>
        <p:blipFill>
          <a:blip r:embed="rId5"/>
          <a:srcRect t="-53" b="-53"/>
          <a:stretch/>
        </p:blipFill>
        <p:spPr>
          <a:xfrm>
            <a:off x="7200812" y="5121452"/>
            <a:ext cx="329847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83059" y="5051602"/>
            <a:ext cx="359191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Separar la interfaz de la lógica del sistema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FUNCIONAMIENTO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1644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1644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644" y="2972153"/>
            <a:ext cx="217289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envía una solicitud HTTP al servidor.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701345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01345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1345" y="2972153"/>
            <a:ext cx="217289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servidor valida y ejecuta la lógica del negocio.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381045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81045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1045" y="2972153"/>
            <a:ext cx="2172899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 o guarda información en la base de datos.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50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060745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60745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60745" y="2972153"/>
            <a:ext cx="217289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Devuelve el resultado (JSON o HTML) al cliente.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4179005"/>
            <a:ext cx="10566400" cy="637469"/>
          </a:xfrm>
          <a:prstGeom prst="roundRect">
            <a:avLst>
              <a:gd name="adj" fmla="val 1992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066800" y="4382205"/>
            <a:ext cx="104902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EJEMPLO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4183" y="4382205"/>
            <a:ext cx="5305799" cy="256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/api/productos → </a:t>
            </a:r>
            <a:r>
              <a:rPr lang="en-US" sz="13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 OK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"productos": [ ... ] 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ORGANIZACIÓN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se organiza?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3380317" cy="3418240"/>
          </a:xfrm>
          <a:prstGeom prst="roundRect">
            <a:avLst>
              <a:gd name="adj" fmla="val 3663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47044" y="2131482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capas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044" y="2456569"/>
            <a:ext cx="300572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y servidor de datos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7044" y="2840038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(interfaz + lógica)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7044" y="2840038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47044" y="3299709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(datos)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47044" y="3299709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405842" y="1900414"/>
            <a:ext cx="3380317" cy="3418240"/>
          </a:xfrm>
          <a:prstGeom prst="roundRect">
            <a:avLst>
              <a:gd name="adj" fmla="val 3663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36911" y="2131482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capas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911" y="2456569"/>
            <a:ext cx="300572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Presentación, lógica y datos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6911" y="2840038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 (React)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911" y="2840038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36911" y="3299709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Lógica (Node.js)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36911" y="3299709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636911" y="3759377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(MySQL)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36911" y="3759377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995708" y="1900414"/>
            <a:ext cx="3380317" cy="3418240"/>
          </a:xfrm>
          <a:prstGeom prst="roundRect">
            <a:avLst>
              <a:gd name="adj" fmla="val 3663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226778" y="2131482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capas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6778" y="2456569"/>
            <a:ext cx="300572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Capas y servicios independientes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6778" y="2840038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6778" y="2840038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26778" y="3299709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6778" y="3299709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226778" y="3759377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6778" y="3759377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226778" y="4219045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6778" y="4219045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226778" y="4678716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6778" y="4678716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CARACTERÍSTICAS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Seis rasgos que la definen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644" y="2106084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644" y="2487084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 por red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21644" y="282998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y servidor se conectan con HTTP sobre TCP/IP.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842" y="1900414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1511" y="2106084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1511" y="2487084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 y respuesta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1511" y="282998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siempre inicia; el servidor espera y responde.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708" y="1900414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1378" y="2106084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1378" y="2487084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centralizado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01378" y="282998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 los datos y las reglas del negocio.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707341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1644" y="3913011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1644" y="4294011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Muchos clientes a la vez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21644" y="4636911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mismo servidor atiende a miles de usuarios.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05842" y="3707341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4" descr="Lightni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1511" y="3913011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1511" y="4294011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Escalable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11511" y="4636911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refuerza el servidor sin tocar a los clientes.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95708" y="3707341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5" descr="Loc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01378" y="3913011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01378" y="4294011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y seguridad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01378" y="4636911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Accesos y permisos se gestionan en un solo lugar.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DIAGRAMA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Componentes y conexiones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01850"/>
            <a:ext cx="1765300" cy="685800"/>
          </a:xfrm>
          <a:prstGeom prst="roundRect">
            <a:avLst>
              <a:gd name="adj" fmla="val 1759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37070" y="2183166"/>
            <a:ext cx="13293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web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41662" y="2475266"/>
            <a:ext cx="5202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9150" y="2990850"/>
            <a:ext cx="1765300" cy="685800"/>
          </a:xfrm>
          <a:prstGeom prst="roundRect">
            <a:avLst>
              <a:gd name="adj" fmla="val 1759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43106" y="3072166"/>
            <a:ext cx="11173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móvil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7440" y="3364266"/>
            <a:ext cx="118872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· 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3879850"/>
            <a:ext cx="1765300" cy="685800"/>
          </a:xfrm>
          <a:prstGeom prst="roundRect">
            <a:avLst>
              <a:gd name="adj" fmla="val 1759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61424" y="3961166"/>
            <a:ext cx="10806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Escritorio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0001" y="4253266"/>
            <a:ext cx="98350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nativa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08350" y="2673350"/>
            <a:ext cx="1892300" cy="1320800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 w="12700">
            <a:solidFill>
              <a:srgbClr val="5B6573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801119" y="3072166"/>
            <a:ext cx="9066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3364" y="3364266"/>
            <a:ext cx="124227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/ HTTPS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3000" y="2540000"/>
            <a:ext cx="2159000" cy="1587500"/>
          </a:xfrm>
          <a:prstGeom prst="roundRect">
            <a:avLst>
              <a:gd name="adj" fmla="val 9600"/>
            </a:avLst>
          </a:prstGeom>
          <a:solidFill>
            <a:srgbClr val="0B7A6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736089" y="2874082"/>
            <a:ext cx="1132734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4611" y="3244850"/>
            <a:ext cx="9357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8696" y="3562350"/>
            <a:ext cx="160760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20200" y="2540000"/>
            <a:ext cx="2159000" cy="1587500"/>
          </a:xfrm>
          <a:prstGeom prst="roundRect">
            <a:avLst>
              <a:gd name="adj" fmla="val 96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355666" y="2874082"/>
            <a:ext cx="188806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19238" y="3244850"/>
            <a:ext cx="7608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32934" y="3562350"/>
            <a:ext cx="173344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Tablas y relaciones</a:t>
            </a:r>
            <a:endParaRPr lang="en-US" sz="1300" dirty="0"/>
          </a:p>
        </p:txBody>
      </p:sp>
      <p:pic>
        <p:nvPicPr>
          <p:cNvPr id="2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78100" y="2381250"/>
            <a:ext cx="736600" cy="666750"/>
          </a:xfrm>
          <a:prstGeom prst="rect">
            <a:avLst/>
          </a:prstGeom>
        </p:spPr>
      </p:pic>
      <p:pic>
        <p:nvPicPr>
          <p:cNvPr id="2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8100" y="3270250"/>
            <a:ext cx="736600" cy="127000"/>
          </a:xfrm>
          <a:prstGeom prst="rect">
            <a:avLst/>
          </a:prstGeom>
        </p:spPr>
      </p:pic>
      <p:pic>
        <p:nvPicPr>
          <p:cNvPr id="2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78100" y="3619500"/>
            <a:ext cx="736600" cy="666750"/>
          </a:xfrm>
          <a:prstGeom prst="rect">
            <a:avLst/>
          </a:prstGeom>
        </p:spPr>
      </p:pic>
      <p:pic>
        <p:nvPicPr>
          <p:cNvPr id="2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94300" y="3048000"/>
            <a:ext cx="1041400" cy="127000"/>
          </a:xfrm>
          <a:prstGeom prst="rect">
            <a:avLst/>
          </a:prstGeom>
        </p:spPr>
      </p:pic>
      <p:pic>
        <p:nvPicPr>
          <p:cNvPr id="28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94300" y="3492500"/>
            <a:ext cx="1041400" cy="127000"/>
          </a:xfrm>
          <a:prstGeom prst="rect">
            <a:avLst/>
          </a:prstGeom>
        </p:spPr>
      </p:pic>
      <p:pic>
        <p:nvPicPr>
          <p:cNvPr id="29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9300" y="3270250"/>
            <a:ext cx="863600" cy="1270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45100" y="2794000"/>
            <a:ext cx="939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245100" y="3651250"/>
            <a:ext cx="939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407400" y="3016250"/>
            <a:ext cx="7874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50165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clientes inician la comunicación; el servidor espera, consulta los datos y responde.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BALANCE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Ventajas y desventajas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5175250" cy="3938411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2444" y="2156882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3444" y="2159440"/>
            <a:ext cx="117337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Ventajas</a:t>
            </a:r>
            <a:endParaRPr lang="en-US" sz="1800" dirty="0"/>
          </a:p>
        </p:txBody>
      </p:sp>
      <p:pic>
        <p:nvPicPr>
          <p:cNvPr id="7" name="Image 1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2623607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8044" y="2614082"/>
            <a:ext cx="33966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y seguridad centralizados</a:t>
            </a:r>
            <a:endParaRPr lang="en-US" sz="1500" dirty="0"/>
          </a:p>
        </p:txBody>
      </p:sp>
      <p:pic>
        <p:nvPicPr>
          <p:cNvPr id="9" name="Image 2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304905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8044" y="3039532"/>
            <a:ext cx="31565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Fácil de mantener y actualizar</a:t>
            </a:r>
            <a:endParaRPr lang="en-US" sz="1500" dirty="0"/>
          </a:p>
        </p:txBody>
      </p:sp>
      <p:pic>
        <p:nvPicPr>
          <p:cNvPr id="11" name="Image 3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3474507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044" y="3464982"/>
            <a:ext cx="30482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 reforzando el servidor</a:t>
            </a:r>
            <a:endParaRPr lang="en-US" sz="1500" dirty="0"/>
          </a:p>
        </p:txBody>
      </p:sp>
      <p:pic>
        <p:nvPicPr>
          <p:cNvPr id="13" name="Image 4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3899957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28044" y="3890432"/>
            <a:ext cx="38743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mismo backend para web y móvil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6200775" y="1900414"/>
            <a:ext cx="5175250" cy="3938411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5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7245" y="2156882"/>
            <a:ext cx="279400" cy="2794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38245" y="2159440"/>
            <a:ext cx="164316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Desventajas</a:t>
            </a:r>
            <a:endParaRPr lang="en-US" sz="1800" dirty="0"/>
          </a:p>
        </p:txBody>
      </p:sp>
      <p:pic>
        <p:nvPicPr>
          <p:cNvPr id="18" name="Image 6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2623607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812845" y="2614082"/>
            <a:ext cx="38883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servidor es un punto único de falla</a:t>
            </a:r>
            <a:endParaRPr lang="en-US" sz="1500" dirty="0"/>
          </a:p>
        </p:txBody>
      </p:sp>
      <p:pic>
        <p:nvPicPr>
          <p:cNvPr id="20" name="Image 7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3049057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812845" y="3039532"/>
            <a:ext cx="35060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Mucha demanda puede saturarlo</a:t>
            </a:r>
            <a:endParaRPr lang="en-US" sz="1500" dirty="0"/>
          </a:p>
        </p:txBody>
      </p:sp>
      <p:pic>
        <p:nvPicPr>
          <p:cNvPr id="22" name="Image 8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3474507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812845" y="3464982"/>
            <a:ext cx="36677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 de la red y de su latencia</a:t>
            </a:r>
            <a:endParaRPr lang="en-US" sz="1500" dirty="0"/>
          </a:p>
        </p:txBody>
      </p:sp>
      <p:pic>
        <p:nvPicPr>
          <p:cNvPr id="24" name="Image 9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3899957"/>
            <a:ext cx="228600" cy="2286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812845" y="3890432"/>
            <a:ext cx="45600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Costos de infraestructura y mantenimiento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TECNOLOGÍAS RELACIONADAS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qué se construye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7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1644" y="2106085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1644" y="2395624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1644" y="2791799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Interfaces dinámicas que consumen la API.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42" y="1900417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611511" y="2106085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1511" y="2395624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+ Express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1511" y="2791799"/>
            <a:ext cx="305804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y API REST en JavaScript.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08" y="1900417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01378" y="2106085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01378" y="2395624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01378" y="2791799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relacionales consultados con SQL.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669153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21644" y="3874821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1644" y="4164366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1644" y="456053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mismo entorno en tu equipo y en producción.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05842" y="3669153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611511" y="3874821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1511" y="4164366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AWS, Azure, GCP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1511" y="456053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Servidores bajo demanda y escalables.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95708" y="3669153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01378" y="3874821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01378" y="4164366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HTTP, REST y JSON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01378" y="456053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idioma común entre cliente y servidor.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SIMULACIÓN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petición en vivo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pic>
        <p:nvPicPr>
          <p:cNvPr id="8" name="simulacion-peticion">
            <a:hlinkClick r:id="" action="ppaction://media"/>
            <a:extLst>
              <a:ext uri="{FF2B5EF4-FFF2-40B4-BE49-F238E27FC236}">
                <a16:creationId xmlns:a16="http://schemas.microsoft.com/office/drawing/2014/main" id="{164DDCE6-EE87-BB59-5F4F-3404424ED1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800" y="1853862"/>
            <a:ext cx="10566400" cy="315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· PATRONES DE DISEÑO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y Facade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7"/>
            <a:ext cx="5175250" cy="3579195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2444" y="2244458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5044" y="2156885"/>
            <a:ext cx="142213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5044" y="2456569"/>
            <a:ext cx="164560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Patrón estructural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2444" y="2840038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2444" y="3104183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Traduce una interfaz en otra que el sistema ya espera.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72444" y="3770933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ANALOGÍA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2444" y="4035072"/>
            <a:ext cx="48021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adaptador de enchufe entre dos países.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72444" y="4444647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BACKEND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444" y="4708792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Conecta una pasarela de pagos externa sin cambiar el código del servidor.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00775" y="1900417"/>
            <a:ext cx="5175250" cy="3579195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1" descr="Hom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7245" y="2244458"/>
            <a:ext cx="355600" cy="355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39845" y="2156885"/>
            <a:ext cx="142213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939845" y="2456569"/>
            <a:ext cx="164560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Patrón estructural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57245" y="2840038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57245" y="3104183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Ofrece una interfaz simple para un conjunto de subsistemas complejos.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57245" y="3770933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ANALOGÍA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57245" y="4035072"/>
            <a:ext cx="491560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recepción de un hotel: un solo punto de contacto.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57245" y="4444647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BACKEND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57245" y="4708792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sola operación, comprar, que reserva, cobra y guarda.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PATRONES EN CLIENTE-SERVIDOR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 encajan en el servidor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673350"/>
            <a:ext cx="1638300" cy="1257300"/>
          </a:xfrm>
          <a:prstGeom prst="roundRect">
            <a:avLst>
              <a:gd name="adj" fmla="val 11616"/>
            </a:avLst>
          </a:prstGeom>
          <a:solidFill>
            <a:srgbClr val="16263D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55391" y="3001082"/>
            <a:ext cx="965729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8162" y="3371850"/>
            <a:ext cx="5202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02000" y="2476500"/>
            <a:ext cx="2286000" cy="1651000"/>
          </a:xfrm>
          <a:prstGeom prst="roundRect">
            <a:avLst>
              <a:gd name="adj" fmla="val 9231"/>
            </a:avLst>
          </a:prstGeom>
          <a:solidFill>
            <a:srgbClr val="0B7A6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93885" y="2842332"/>
            <a:ext cx="1902143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PedidoFacade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46009" y="3213100"/>
            <a:ext cx="79798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73687" y="3530600"/>
            <a:ext cx="154262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sola entrada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6350" y="2101850"/>
            <a:ext cx="1892300" cy="622300"/>
          </a:xfrm>
          <a:prstGeom prst="roundRect">
            <a:avLst>
              <a:gd name="adj" fmla="val 19388"/>
            </a:avLst>
          </a:prstGeom>
          <a:solidFill>
            <a:srgbClr val="16263D"/>
          </a:solidFill>
          <a:ln w="1270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735560" y="2151416"/>
            <a:ext cx="11337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9312" y="2443516"/>
            <a:ext cx="10663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Subsistema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0000" y="2984500"/>
            <a:ext cx="1905000" cy="635000"/>
          </a:xfrm>
          <a:prstGeom prst="roundRect">
            <a:avLst>
              <a:gd name="adj" fmla="val 20000"/>
            </a:avLst>
          </a:pr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77224" y="3040416"/>
            <a:ext cx="14505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PagoAdapter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14735" y="3332516"/>
            <a:ext cx="77544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6350" y="3879850"/>
            <a:ext cx="1892300" cy="622300"/>
          </a:xfrm>
          <a:prstGeom prst="roundRect">
            <a:avLst>
              <a:gd name="adj" fmla="val 19388"/>
            </a:avLst>
          </a:prstGeom>
          <a:solidFill>
            <a:srgbClr val="16263D"/>
          </a:solidFill>
          <a:ln w="1270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09753" y="3929416"/>
            <a:ext cx="7854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1211" y="4221516"/>
            <a:ext cx="130249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26550" y="2990850"/>
            <a:ext cx="2146300" cy="622300"/>
          </a:xfrm>
          <a:prstGeom prst="roundRect">
            <a:avLst>
              <a:gd name="adj" fmla="val 19388"/>
            </a:avLst>
          </a:prstGeom>
          <a:solidFill>
            <a:srgbClr val="16263D"/>
          </a:solidFill>
          <a:ln w="12700">
            <a:solidFill>
              <a:srgbClr val="F2B84B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368367" y="3040416"/>
            <a:ext cx="18626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Pasarela externa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97505" y="3332516"/>
            <a:ext cx="140430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de terceros</a:t>
            </a:r>
            <a:endParaRPr lang="en-US" sz="1300" dirty="0"/>
          </a:p>
        </p:txBody>
      </p:sp>
      <p:pic>
        <p:nvPicPr>
          <p:cNvPr id="23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51100" y="3238500"/>
            <a:ext cx="863600" cy="127000"/>
          </a:xfrm>
          <a:prstGeom prst="rect">
            <a:avLst/>
          </a:prstGeom>
        </p:spPr>
      </p:pic>
      <p:pic>
        <p:nvPicPr>
          <p:cNvPr id="24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5300" y="2349500"/>
            <a:ext cx="787400" cy="1016000"/>
          </a:xfrm>
          <a:prstGeom prst="rect">
            <a:avLst/>
          </a:prstGeom>
        </p:spPr>
      </p:pic>
      <p:pic>
        <p:nvPicPr>
          <p:cNvPr id="25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75300" y="3238500"/>
            <a:ext cx="787400" cy="127000"/>
          </a:xfrm>
          <a:prstGeom prst="rect">
            <a:avLst/>
          </a:prstGeom>
        </p:spPr>
      </p:pic>
      <p:pic>
        <p:nvPicPr>
          <p:cNvPr id="26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75300" y="3238500"/>
            <a:ext cx="787400" cy="1016000"/>
          </a:xfrm>
          <a:prstGeom prst="rect">
            <a:avLst/>
          </a:prstGeom>
        </p:spPr>
      </p:pic>
      <p:pic>
        <p:nvPicPr>
          <p:cNvPr id="27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42300" y="3238500"/>
            <a:ext cx="990600" cy="127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2800" y="4889500"/>
            <a:ext cx="523240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Facade:</a:t>
            </a: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cliente llama una sola operación.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096000" y="4889500"/>
            <a:ext cx="544169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Adapter:</a:t>
            </a: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traduce la pasarela externa a la interfaz del sistema.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· CÓDIGO CON PATRONES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y Facade en Node.js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95642"/>
            <a:ext cx="5181600" cy="3281451"/>
          </a:xfrm>
          <a:prstGeom prst="roundRect">
            <a:avLst>
              <a:gd name="adj" fmla="val 387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66800" y="1998842"/>
            <a:ext cx="481380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· PAGOS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13781"/>
            <a:ext cx="4813808" cy="237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Adapter: traduce cobrar() a la API externa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PagoAdapter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constructor(pasarela)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this.pasarela = pasarela;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cobrar(valor)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this.pasarela.makePayment({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amount: valor * 100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7600" y="1795642"/>
            <a:ext cx="5181600" cy="3281451"/>
          </a:xfrm>
          <a:prstGeom prst="roundRect">
            <a:avLst>
              <a:gd name="adj" fmla="val 387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51600" y="1998842"/>
            <a:ext cx="481380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 · PEDIDO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600" y="2313781"/>
            <a:ext cx="4813808" cy="258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Facade: una sola operación para el cliente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PedidoFacade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constructor(inv, pagos, db)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Object.assign(this, { inv, pagos, db });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async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comprar(id, valor)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this.inv.reservar(id);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this.pagos.cobrar(valor);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this.db.guardar(id);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estado: </a:t>
            </a:r>
            <a:r>
              <a:rPr lang="en-US" sz="12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"ok"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};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280292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solo expone </a:t>
            </a:r>
            <a:r>
              <a:rPr lang="en-US" sz="13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/api/comprar</a:t>
            </a: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el resto queda oculto tras el Facade.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· CASOS DE USO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60"/>
              </a:lnSpc>
            </a:pPr>
            <a:r>
              <a:rPr lang="es-ES" b="1" dirty="0">
                <a:solidFill>
                  <a:schemeClr val="bg1"/>
                </a:solidFill>
                <a:latin typeface="Space Grotesk"/>
              </a:rPr>
              <a:t>¿En qué Situaciones Conviene Utilizarla?</a:t>
            </a:r>
          </a:p>
        </p:txBody>
      </p:sp>
      <p:sp>
        <p:nvSpPr>
          <p:cNvPr id="5" name="Text 2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C0B0CDD8-540B-0BF7-181B-BFDC3AC2700A}"/>
              </a:ext>
            </a:extLst>
          </p:cNvPr>
          <p:cNvSpPr/>
          <p:nvPr/>
        </p:nvSpPr>
        <p:spPr>
          <a:xfrm>
            <a:off x="656256" y="1836671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329AE333-73B2-CC98-2BBB-B52379DCF50F}"/>
              </a:ext>
            </a:extLst>
          </p:cNvPr>
          <p:cNvSpPr/>
          <p:nvPr/>
        </p:nvSpPr>
        <p:spPr>
          <a:xfrm>
            <a:off x="4390056" y="1836671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224F62C5-1496-71FD-A0EF-CD07427AC29E}"/>
              </a:ext>
            </a:extLst>
          </p:cNvPr>
          <p:cNvSpPr/>
          <p:nvPr/>
        </p:nvSpPr>
        <p:spPr>
          <a:xfrm>
            <a:off x="8123856" y="1836671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422968F-A1F2-AD61-892C-E4EA1D2AB354}"/>
              </a:ext>
            </a:extLst>
          </p:cNvPr>
          <p:cNvSpPr/>
          <p:nvPr/>
        </p:nvSpPr>
        <p:spPr>
          <a:xfrm>
            <a:off x="656256" y="397503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8292DD45-BAE7-06BC-798C-CD71A2746C68}"/>
              </a:ext>
            </a:extLst>
          </p:cNvPr>
          <p:cNvSpPr/>
          <p:nvPr/>
        </p:nvSpPr>
        <p:spPr>
          <a:xfrm>
            <a:off x="656256" y="1836671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93C342C1-9C56-719A-A370-CBD612C26931}"/>
              </a:ext>
            </a:extLst>
          </p:cNvPr>
          <p:cNvSpPr/>
          <p:nvPr/>
        </p:nvSpPr>
        <p:spPr>
          <a:xfrm>
            <a:off x="656256" y="183667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2696E4BA-8C6D-D1A0-525B-8A59A10DE3DB}"/>
              </a:ext>
            </a:extLst>
          </p:cNvPr>
          <p:cNvSpPr/>
          <p:nvPr/>
        </p:nvSpPr>
        <p:spPr>
          <a:xfrm>
            <a:off x="4151931" y="183667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ED1E3BBF-E7A2-A66D-9F13-C332D2FCA7E0}"/>
              </a:ext>
            </a:extLst>
          </p:cNvPr>
          <p:cNvSpPr/>
          <p:nvPr/>
        </p:nvSpPr>
        <p:spPr>
          <a:xfrm>
            <a:off x="4390056" y="397503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9A4C433B-2740-AB32-BE74-1C99F3E32BD5}"/>
              </a:ext>
            </a:extLst>
          </p:cNvPr>
          <p:cNvSpPr/>
          <p:nvPr/>
        </p:nvSpPr>
        <p:spPr>
          <a:xfrm>
            <a:off x="4390056" y="1836671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24F35711-E189-2049-C05C-98B5C0D77190}"/>
              </a:ext>
            </a:extLst>
          </p:cNvPr>
          <p:cNvSpPr/>
          <p:nvPr/>
        </p:nvSpPr>
        <p:spPr>
          <a:xfrm>
            <a:off x="4390056" y="183667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0FB0D82C-6505-C4BE-7B29-22FA2892886B}"/>
              </a:ext>
            </a:extLst>
          </p:cNvPr>
          <p:cNvSpPr/>
          <p:nvPr/>
        </p:nvSpPr>
        <p:spPr>
          <a:xfrm>
            <a:off x="7885731" y="183667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46CAA22A-0F07-1BBE-A1EA-3BB09A8133E6}"/>
              </a:ext>
            </a:extLst>
          </p:cNvPr>
          <p:cNvSpPr/>
          <p:nvPr/>
        </p:nvSpPr>
        <p:spPr>
          <a:xfrm>
            <a:off x="8123856" y="397503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BA40AF52-937B-9E4E-2492-F34177C58D4B}"/>
              </a:ext>
            </a:extLst>
          </p:cNvPr>
          <p:cNvSpPr/>
          <p:nvPr/>
        </p:nvSpPr>
        <p:spPr>
          <a:xfrm>
            <a:off x="8123856" y="1836671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12EF179E-CEE9-83E5-8A1D-B333E73E6948}"/>
              </a:ext>
            </a:extLst>
          </p:cNvPr>
          <p:cNvSpPr/>
          <p:nvPr/>
        </p:nvSpPr>
        <p:spPr>
          <a:xfrm>
            <a:off x="8123856" y="183667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C3F0532F-6FFA-158F-080F-62117687278D}"/>
              </a:ext>
            </a:extLst>
          </p:cNvPr>
          <p:cNvSpPr/>
          <p:nvPr/>
        </p:nvSpPr>
        <p:spPr>
          <a:xfrm>
            <a:off x="11619531" y="183667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16" descr="image.png">
            <a:extLst>
              <a:ext uri="{FF2B5EF4-FFF2-40B4-BE49-F238E27FC236}">
                <a16:creationId xmlns:a16="http://schemas.microsoft.com/office/drawing/2014/main" id="{181D95C9-B4CF-AE1C-E9C1-ACE079C5B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81" y="2141471"/>
            <a:ext cx="457200" cy="457200"/>
          </a:xfrm>
          <a:prstGeom prst="rect">
            <a:avLst/>
          </a:prstGeom>
        </p:spPr>
      </p:pic>
      <p:pic>
        <p:nvPicPr>
          <p:cNvPr id="40" name="Picture 17" descr="image.png">
            <a:extLst>
              <a:ext uri="{FF2B5EF4-FFF2-40B4-BE49-F238E27FC236}">
                <a16:creationId xmlns:a16="http://schemas.microsoft.com/office/drawing/2014/main" id="{819CD9B4-81E9-4B96-7163-584A06E03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281" y="2141471"/>
            <a:ext cx="457200" cy="457200"/>
          </a:xfrm>
          <a:prstGeom prst="rect">
            <a:avLst/>
          </a:prstGeom>
        </p:spPr>
      </p:pic>
      <p:pic>
        <p:nvPicPr>
          <p:cNvPr id="42" name="Picture 18" descr="image.png">
            <a:extLst>
              <a:ext uri="{FF2B5EF4-FFF2-40B4-BE49-F238E27FC236}">
                <a16:creationId xmlns:a16="http://schemas.microsoft.com/office/drawing/2014/main" id="{37994EC6-805A-E932-97AA-64F832951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081" y="2141471"/>
            <a:ext cx="457200" cy="457200"/>
          </a:xfrm>
          <a:prstGeom prst="rect">
            <a:avLst/>
          </a:prstGeom>
        </p:spPr>
      </p:pic>
      <p:pic>
        <p:nvPicPr>
          <p:cNvPr id="44" name="Picture 19" descr="image.png">
            <a:extLst>
              <a:ext uri="{FF2B5EF4-FFF2-40B4-BE49-F238E27FC236}">
                <a16:creationId xmlns:a16="http://schemas.microsoft.com/office/drawing/2014/main" id="{2E23AE9D-C3A3-90C4-209F-29445AA17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018" y="2274821"/>
            <a:ext cx="238125" cy="190500"/>
          </a:xfrm>
          <a:prstGeom prst="rect">
            <a:avLst/>
          </a:prstGeom>
        </p:spPr>
      </p:pic>
      <p:pic>
        <p:nvPicPr>
          <p:cNvPr id="46" name="Picture 20" descr="image.png">
            <a:extLst>
              <a:ext uri="{FF2B5EF4-FFF2-40B4-BE49-F238E27FC236}">
                <a16:creationId xmlns:a16="http://schemas.microsoft.com/office/drawing/2014/main" id="{BEF03B0F-B4BE-ED5E-8B20-ACB90033E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631" y="2274821"/>
            <a:ext cx="190500" cy="190500"/>
          </a:xfrm>
          <a:prstGeom prst="rect">
            <a:avLst/>
          </a:prstGeom>
        </p:spPr>
      </p:pic>
      <p:pic>
        <p:nvPicPr>
          <p:cNvPr id="48" name="Picture 21" descr="image.png">
            <a:extLst>
              <a:ext uri="{FF2B5EF4-FFF2-40B4-BE49-F238E27FC236}">
                <a16:creationId xmlns:a16="http://schemas.microsoft.com/office/drawing/2014/main" id="{89F4B190-E97D-E3FC-56D9-95D0DF0D18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618" y="2274821"/>
            <a:ext cx="238125" cy="190500"/>
          </a:xfrm>
          <a:prstGeom prst="rect">
            <a:avLst/>
          </a:prstGeom>
        </p:spPr>
      </p:pic>
      <p:sp>
        <p:nvSpPr>
          <p:cNvPr id="50" name="TextBox 25">
            <a:extLst>
              <a:ext uri="{FF2B5EF4-FFF2-40B4-BE49-F238E27FC236}">
                <a16:creationId xmlns:a16="http://schemas.microsoft.com/office/drawing/2014/main" id="{CAA1C822-041B-7EB6-D7AB-56ABFAF4CF8C}"/>
              </a:ext>
            </a:extLst>
          </p:cNvPr>
          <p:cNvSpPr txBox="1"/>
          <p:nvPr/>
        </p:nvSpPr>
        <p:spPr>
          <a:xfrm>
            <a:off x="932481" y="2751071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Sistemas Multi-usuario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02401731-DE25-D61A-0E95-F98034F3070A}"/>
              </a:ext>
            </a:extLst>
          </p:cNvPr>
          <p:cNvSpPr txBox="1"/>
          <p:nvPr/>
        </p:nvSpPr>
        <p:spPr>
          <a:xfrm>
            <a:off x="932481" y="306539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Ideal cuando múltiples usuarios necesitan consultar o editar los mismos datos de manera simultánea e interactiva.</a:t>
            </a: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370D9F4A-9135-12AC-A950-3960B7493509}"/>
              </a:ext>
            </a:extLst>
          </p:cNvPr>
          <p:cNvSpPr txBox="1"/>
          <p:nvPr/>
        </p:nvSpPr>
        <p:spPr>
          <a:xfrm>
            <a:off x="4666281" y="2751071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Datos Sensibles</a:t>
            </a:r>
          </a:p>
        </p:txBody>
      </p:sp>
      <p:sp>
        <p:nvSpPr>
          <p:cNvPr id="56" name="TextBox 28">
            <a:extLst>
              <a:ext uri="{FF2B5EF4-FFF2-40B4-BE49-F238E27FC236}">
                <a16:creationId xmlns:a16="http://schemas.microsoft.com/office/drawing/2014/main" id="{FF930E4C-E44B-70A0-2513-DC050B192C56}"/>
              </a:ext>
            </a:extLst>
          </p:cNvPr>
          <p:cNvSpPr txBox="1"/>
          <p:nvPr/>
        </p:nvSpPr>
        <p:spPr>
          <a:xfrm>
            <a:off x="4666281" y="306539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Indispensable cuando la información requiere auditoría estricta, respaldo constante y control centralizado.</a:t>
            </a:r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CBBD0C54-596A-4D1A-E52D-7498417A7F89}"/>
              </a:ext>
            </a:extLst>
          </p:cNvPr>
          <p:cNvSpPr txBox="1"/>
          <p:nvPr/>
        </p:nvSpPr>
        <p:spPr>
          <a:xfrm>
            <a:off x="8400081" y="2751071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Plataformas SaaS</a:t>
            </a:r>
          </a:p>
        </p:txBody>
      </p:sp>
      <p:sp>
        <p:nvSpPr>
          <p:cNvPr id="60" name="TextBox 30">
            <a:extLst>
              <a:ext uri="{FF2B5EF4-FFF2-40B4-BE49-F238E27FC236}">
                <a16:creationId xmlns:a16="http://schemas.microsoft.com/office/drawing/2014/main" id="{33799D40-357B-5BF2-DB6E-0D8DFBC0C989}"/>
              </a:ext>
            </a:extLst>
          </p:cNvPr>
          <p:cNvSpPr txBox="1"/>
          <p:nvPr/>
        </p:nvSpPr>
        <p:spPr>
          <a:xfrm>
            <a:off x="8400081" y="306539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La mejor opción para ofrecer productos de software accesibles globalmente desde cualquier navegador o app.</a:t>
            </a:r>
          </a:p>
        </p:txBody>
      </p:sp>
      <p:sp>
        <p:nvSpPr>
          <p:cNvPr id="62" name="Rounded Rectangle 1">
            <a:extLst>
              <a:ext uri="{FF2B5EF4-FFF2-40B4-BE49-F238E27FC236}">
                <a16:creationId xmlns:a16="http://schemas.microsoft.com/office/drawing/2014/main" id="{097E3D8A-B1A2-598F-DF0F-4E9AFB3CABBD}"/>
              </a:ext>
            </a:extLst>
          </p:cNvPr>
          <p:cNvSpPr/>
          <p:nvPr/>
        </p:nvSpPr>
        <p:spPr>
          <a:xfrm>
            <a:off x="637593" y="4223850"/>
            <a:ext cx="5334000" cy="1704975"/>
          </a:xfrm>
          <a:prstGeom prst="roundRect">
            <a:avLst>
              <a:gd name="adj" fmla="val 670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2">
            <a:extLst>
              <a:ext uri="{FF2B5EF4-FFF2-40B4-BE49-F238E27FC236}">
                <a16:creationId xmlns:a16="http://schemas.microsoft.com/office/drawing/2014/main" id="{9F40D161-98EC-2AD4-C38C-1358D69D9AB1}"/>
              </a:ext>
            </a:extLst>
          </p:cNvPr>
          <p:cNvSpPr/>
          <p:nvPr/>
        </p:nvSpPr>
        <p:spPr>
          <a:xfrm>
            <a:off x="6276393" y="4404825"/>
            <a:ext cx="5334000" cy="1343025"/>
          </a:xfrm>
          <a:prstGeom prst="roundRect">
            <a:avLst>
              <a:gd name="adj" fmla="val 851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3" descr="image.png">
            <a:extLst>
              <a:ext uri="{FF2B5EF4-FFF2-40B4-BE49-F238E27FC236}">
                <a16:creationId xmlns:a16="http://schemas.microsoft.com/office/drawing/2014/main" id="{86C7A409-567F-A160-AFAA-FDBA7A9D18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818" y="4862025"/>
            <a:ext cx="123825" cy="142875"/>
          </a:xfrm>
          <a:prstGeom prst="rect">
            <a:avLst/>
          </a:prstGeom>
        </p:spPr>
      </p:pic>
      <p:pic>
        <p:nvPicPr>
          <p:cNvPr id="68" name="Picture 4" descr="image.png">
            <a:extLst>
              <a:ext uri="{FF2B5EF4-FFF2-40B4-BE49-F238E27FC236}">
                <a16:creationId xmlns:a16="http://schemas.microsoft.com/office/drawing/2014/main" id="{C31F7FF0-E4E2-1CB3-B575-36C6D4F763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818" y="5319225"/>
            <a:ext cx="123825" cy="142875"/>
          </a:xfrm>
          <a:prstGeom prst="rect">
            <a:avLst/>
          </a:prstGeom>
        </p:spPr>
      </p:pic>
      <p:pic>
        <p:nvPicPr>
          <p:cNvPr id="70" name="Picture 5" descr="image.png">
            <a:extLst>
              <a:ext uri="{FF2B5EF4-FFF2-40B4-BE49-F238E27FC236}">
                <a16:creationId xmlns:a16="http://schemas.microsoft.com/office/drawing/2014/main" id="{2BEA544A-1DF3-3B6E-C30C-825F16F989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2618" y="5043000"/>
            <a:ext cx="123825" cy="142875"/>
          </a:xfrm>
          <a:prstGeom prst="rect">
            <a:avLst/>
          </a:prstGeom>
        </p:spPr>
      </p:pic>
      <p:pic>
        <p:nvPicPr>
          <p:cNvPr id="72" name="Picture 6" descr="image.png">
            <a:extLst>
              <a:ext uri="{FF2B5EF4-FFF2-40B4-BE49-F238E27FC236}">
                <a16:creationId xmlns:a16="http://schemas.microsoft.com/office/drawing/2014/main" id="{D19875C6-35A0-9B1B-95F6-AB6BBBC77E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2618" y="5319225"/>
            <a:ext cx="123825" cy="142875"/>
          </a:xfrm>
          <a:prstGeom prst="rect">
            <a:avLst/>
          </a:prstGeom>
        </p:spPr>
      </p:pic>
      <p:sp>
        <p:nvSpPr>
          <p:cNvPr id="74" name="TextBox 9">
            <a:extLst>
              <a:ext uri="{FF2B5EF4-FFF2-40B4-BE49-F238E27FC236}">
                <a16:creationId xmlns:a16="http://schemas.microsoft.com/office/drawing/2014/main" id="{FF8AE6FE-F822-A094-AFAA-462023E2546C}"/>
              </a:ext>
            </a:extLst>
          </p:cNvPr>
          <p:cNvSpPr txBox="1"/>
          <p:nvPr/>
        </p:nvSpPr>
        <p:spPr>
          <a:xfrm>
            <a:off x="913818" y="4500075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Utiliza Adapter cuando:</a:t>
            </a: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7F4B166A-BF69-7901-F8E5-1AF4B937ACB5}"/>
              </a:ext>
            </a:extLst>
          </p:cNvPr>
          <p:cNvSpPr txBox="1"/>
          <p:nvPr/>
        </p:nvSpPr>
        <p:spPr>
          <a:xfrm>
            <a:off x="6552618" y="468105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Utiliza Facade cuando:</a:t>
            </a:r>
          </a:p>
        </p:txBody>
      </p:sp>
      <p:sp>
        <p:nvSpPr>
          <p:cNvPr id="78" name="TextBox 11">
            <a:extLst>
              <a:ext uri="{FF2B5EF4-FFF2-40B4-BE49-F238E27FC236}">
                <a16:creationId xmlns:a16="http://schemas.microsoft.com/office/drawing/2014/main" id="{9799056D-C1C5-ADC2-890F-EF6BEB58AD72}"/>
              </a:ext>
            </a:extLst>
          </p:cNvPr>
          <p:cNvSpPr txBox="1"/>
          <p:nvPr/>
        </p:nvSpPr>
        <p:spPr>
          <a:xfrm>
            <a:off x="913818" y="4833450"/>
            <a:ext cx="4876800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Quieres integrar una clase existente cuya interfaz no coincide con tu código.</a:t>
            </a:r>
          </a:p>
        </p:txBody>
      </p:sp>
      <p:sp>
        <p:nvSpPr>
          <p:cNvPr id="80" name="TextBox 12">
            <a:extLst>
              <a:ext uri="{FF2B5EF4-FFF2-40B4-BE49-F238E27FC236}">
                <a16:creationId xmlns:a16="http://schemas.microsoft.com/office/drawing/2014/main" id="{A0D96F2D-0793-E932-E583-B11A7996E73E}"/>
              </a:ext>
            </a:extLst>
          </p:cNvPr>
          <p:cNvSpPr txBox="1"/>
          <p:nvPr/>
        </p:nvSpPr>
        <p:spPr>
          <a:xfrm>
            <a:off x="913818" y="5290650"/>
            <a:ext cx="4876800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Necesitas reutilizar varias subclases que carecen de alguna funcionalidad común.</a:t>
            </a:r>
          </a:p>
        </p:txBody>
      </p:sp>
      <p:sp>
        <p:nvSpPr>
          <p:cNvPr id="82" name="TextBox 13">
            <a:extLst>
              <a:ext uri="{FF2B5EF4-FFF2-40B4-BE49-F238E27FC236}">
                <a16:creationId xmlns:a16="http://schemas.microsoft.com/office/drawing/2014/main" id="{4140C1AE-54D0-548D-05FC-6B1A11AC7025}"/>
              </a:ext>
            </a:extLst>
          </p:cNvPr>
          <p:cNvSpPr txBox="1"/>
          <p:nvPr/>
        </p:nvSpPr>
        <p:spPr>
          <a:xfrm>
            <a:off x="6552618" y="501442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Necesitas una interfaz simple para un subsistema complejo.</a:t>
            </a:r>
          </a:p>
        </p:txBody>
      </p:sp>
      <p:sp>
        <p:nvSpPr>
          <p:cNvPr id="84" name="TextBox 14">
            <a:extLst>
              <a:ext uri="{FF2B5EF4-FFF2-40B4-BE49-F238E27FC236}">
                <a16:creationId xmlns:a16="http://schemas.microsoft.com/office/drawing/2014/main" id="{6215953C-B379-28A5-3AC4-87987865E03C}"/>
              </a:ext>
            </a:extLst>
          </p:cNvPr>
          <p:cNvSpPr txBox="1"/>
          <p:nvPr/>
        </p:nvSpPr>
        <p:spPr>
          <a:xfrm>
            <a:off x="6552618" y="529065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Quieres estructurar tu aplicación en capas independientes.</a:t>
            </a:r>
          </a:p>
        </p:txBody>
      </p:sp>
      <p:sp>
        <p:nvSpPr>
          <p:cNvPr id="86" name="Rectangle 9">
            <a:extLst>
              <a:ext uri="{FF2B5EF4-FFF2-40B4-BE49-F238E27FC236}">
                <a16:creationId xmlns:a16="http://schemas.microsoft.com/office/drawing/2014/main" id="{55C24F10-E047-F2C4-F5CA-AEE9335E37B3}"/>
              </a:ext>
            </a:extLst>
          </p:cNvPr>
          <p:cNvSpPr/>
          <p:nvPr/>
        </p:nvSpPr>
        <p:spPr>
          <a:xfrm>
            <a:off x="8105193" y="183875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6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96268"/>
            <a:ext cx="10883392" cy="612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pide. El servidor responde.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128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41400" y="4079522"/>
            <a:ext cx="21322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 responsabilidades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4689122"/>
            <a:ext cx="2132203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Interfaz, lógica y datos viven en lugares distintos.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25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721100" y="4079522"/>
            <a:ext cx="2298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Crece con el proyecto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21100" y="4422422"/>
            <a:ext cx="2132203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escala el servidor sin cambiar a los clientes.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0" y="4079522"/>
            <a:ext cx="21322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elige según la necesidad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4689122"/>
            <a:ext cx="2132203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Tamaño, tráfico y equipo definen las capas y herramientas.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19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080500" y="4079522"/>
            <a:ext cx="21322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 con Adapter y Facade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80500" y="4689122"/>
            <a:ext cx="2132203" cy="9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Facade simplifica la entrada y el Adapter conecta servicios externos.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quitectura Cliente-Servidor">
  <a:themeElements>
    <a:clrScheme name="Arquitectura Cliente-Servidor">
      <a:dk1>
        <a:srgbClr val="14213D"/>
      </a:dk1>
      <a:lt1>
        <a:srgbClr val="F4F6F8"/>
      </a:lt1>
      <a:dk2>
        <a:srgbClr val="4C566C"/>
      </a:dk2>
      <a:lt2>
        <a:srgbClr val="DEE1E5"/>
      </a:lt2>
      <a:accent1>
        <a:srgbClr val="0B7A6F"/>
      </a:accent1>
      <a:accent2>
        <a:srgbClr val="2DD4BF"/>
      </a:accent2>
      <a:accent3>
        <a:srgbClr val="8FA3BA"/>
      </a:accent3>
      <a:accent4>
        <a:srgbClr val="1B3A5C"/>
      </a:accent4>
      <a:accent5>
        <a:srgbClr val="F2B84B"/>
      </a:accent5>
      <a:accent6>
        <a:srgbClr val="B45309"/>
      </a:accent6>
      <a:hlink>
        <a:srgbClr val="0563C1"/>
      </a:hlink>
      <a:folHlink>
        <a:srgbClr val="954F72"/>
      </a:folHlink>
    </a:clrScheme>
    <a:fontScheme name="Arquitectura Cliente-Servidor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1529</Words>
  <Application>Microsoft Office PowerPoint</Application>
  <PresentationFormat>Panorámica</PresentationFormat>
  <Paragraphs>248</Paragraphs>
  <Slides>14</Slides>
  <Notes>14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DM Sans</vt:lpstr>
      <vt:lpstr>JetBrains Mono</vt:lpstr>
      <vt:lpstr>Plus Jakarta Sans</vt:lpstr>
      <vt:lpstr>Space Grotesk</vt:lpstr>
      <vt:lpstr>Arquitectura Cliente-Servidor</vt:lpstr>
      <vt:lpstr>Arquitectura Cliente-Servidor</vt:lpstr>
      <vt:lpstr>¿Qué es y para qué sirve?</vt:lpstr>
      <vt:lpstr>¿Cómo funciona?</vt:lpstr>
      <vt:lpstr>¿Cómo se organiza?</vt:lpstr>
      <vt:lpstr>Seis rasgos que la definen</vt:lpstr>
      <vt:lpstr>Componentes y conexiones</vt:lpstr>
      <vt:lpstr>Ventajas y desventajas</vt:lpstr>
      <vt:lpstr>Con qué se construye</vt:lpstr>
      <vt:lpstr>Una petición en vivo</vt:lpstr>
      <vt:lpstr>Adapter y Facade</vt:lpstr>
      <vt:lpstr>Dónde encajan en el servidor</vt:lpstr>
      <vt:lpstr>Adapter y Facade en Node.js</vt:lpstr>
      <vt:lpstr>¿En qué Situaciones Conviene Utilizarla?</vt:lpstr>
      <vt:lpstr>El cliente pide. El servidor responde.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Cliente-Servidor</dc:title>
  <dc:subject/>
  <dc:creator/>
  <cp:lastModifiedBy>Evert Arias Fragozo</cp:lastModifiedBy>
  <cp:revision>4</cp:revision>
  <dcterms:created xsi:type="dcterms:W3CDTF">2026-10-10T03:25:00Z</dcterms:created>
  <dcterms:modified xsi:type="dcterms:W3CDTF">2026-10-12T17:03:33Z</dcterms:modified>
</cp:coreProperties>
</file>