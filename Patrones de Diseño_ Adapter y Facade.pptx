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Plus Jakarta Sans"/>
      <ns0:bold ns1:id="rIdFont23"/>
      <ns0:regular ns1:id="rIdFont24"/>
    </ns0:embeddedFont>
    <ns0:embeddedFont>
      <ns0:font typeface="JetBrains Mono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9fd6097d-42bb-44ab-add8-c63990e55beb.fntdata" /><ns0:Relationship Id="rIdFont24" Type="http://schemas.openxmlformats.org/officeDocument/2006/relationships/font" Target="fonts/40ac6f44-abf7-43e2-9519-9c211bd158e6.fntdata" /><ns0:Relationship Id="rIdFont25" Type="http://schemas.openxmlformats.org/officeDocument/2006/relationships/font" Target="fonts/5d6382b4-9d92-468b-b3d3-282c122d86c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428083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9166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ARQUITECTURA DE SOFTWARE • PATRONES ESTRUCTURALES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15517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Patrones Adapter y 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13683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Guía detallada, práctica y para principiantes sobre cómo conectar sistemas incompatibles y simplificar la complejidad.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350520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43250"/>
            <a:ext cx="350520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43250"/>
            <a:ext cx="350520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Contenido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Recorrido estructurado desde los fundamentos hasta ejemplos prácticos para novatos.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81375"/>
            <a:ext cx="3786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8142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Patrón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7670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Concepto, propósito, características, estructura interna y diagramas.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381375"/>
            <a:ext cx="3786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78142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Patrón Facade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407670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Definición, ventajas de simplificación, organización y diagramas de flujo.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381375"/>
            <a:ext cx="3786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781425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Práctica y Conclusión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076700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Demostración de código sencillo para principiantes, tecnologías y guía de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995612"/>
            <a:ext cx="5638800" cy="18288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47937"/>
            <a:ext cx="5029200" cy="12573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02920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47937"/>
            <a:ext cx="38100" cy="125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719512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33837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348162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Adapter: ¿Qué es y para qué sirve?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El puente traductor entre interfaces incompatibles en el código.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300412"/>
            <a:ext cx="5943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¿Para qué sirve?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8437"/>
            <a:ext cx="60507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Definición Clara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14662"/>
            <a:ext cx="4705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Es un patrón estructural que permite que objetos con interfaces incompatibles trabajen juntos sin alterar su código fuente original.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195762"/>
            <a:ext cx="60757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Analogía del Mundo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471987"/>
            <a:ext cx="47244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Como un adaptador de corriente de viaje que permite conectar un enchufe americano de patas planas en una toma europea redonda.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690937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Integrar librerías o servicios de terceros.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005262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Reutilizar código heredado (legacy).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4319587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Unificar diferentes formatos de datos (ej. XML a JSON).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7037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8137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8136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81375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Adapter: Características y Funcionamiento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Cómo opera este patrón detrás de escena.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814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Principio Open/Closed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767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Permite introducir nuevos adaptadores sin romper el sistema existente.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814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Envoltorio (Wrapper)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76687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Envuelve al objeto incompatible traduciendo llamadas de método bidireccionalmente.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814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Desacoplamiento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767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El cliente no necesita conocer los detalles internos del servicio adaptado.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981325"/>
            <a:ext cx="5638800" cy="1857375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52700"/>
            <a:ext cx="5029200" cy="923925"/>
          </a:xfrm>
          <a:prstGeom prst="roundRect">
            <a:avLst>
              <a:gd name="adj" fmla="val 824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629025"/>
            <a:ext cx="5029200" cy="742950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24375"/>
            <a:ext cx="5029200" cy="742950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0" y="4000500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Adapter: Organización y 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Arquitectura visual de relaciones en el patrón Adapter.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1703" y="3286125"/>
            <a:ext cx="1702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FLUJO DE LLAMADA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1781" y="3619500"/>
            <a:ext cx="42624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200" i="0" u="none">
                <a:solidFill>
                  <a:srgbClr val="FFFFFF"/>
                </a:solidFill>
                <a:latin typeface="Plus Jakarta Sans"/>
              </a:rPr>
              <a:t>Client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→ llama a →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Adapter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Adapter traduce formato → </a:t>
            </a:r>
            <a:r>
              <a:rPr b="1" sz="1200" i="0" u="none">
                <a:solidFill>
                  <a:srgbClr val="F43F5E"/>
                </a:solidFill>
                <a:latin typeface="Plus Jakarta Sans"/>
              </a:rPr>
              <a:t>Adaptee (Servicio)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714625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1. Client (Cliente)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52750"/>
            <a:ext cx="4724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Contiene la lógica de negocio existente que espera una interfaz concreta.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90950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2. Adapter (Adaptador)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29075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Implementa la interfaz del cliente y envuelve al objeto incompatible.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686300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3. Adaptee (Servicio)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924425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Clase existente o externa con una interfaz útil pero incompatible.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5334000" cy="1752600"/>
          </a:xfrm>
          <a:prstGeom prst="roundRect">
            <a:avLst>
              <a:gd name="adj" fmla="val 652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33712"/>
            <a:ext cx="5334000" cy="1752600"/>
          </a:xfrm>
          <a:prstGeom prst="roundRect">
            <a:avLst>
              <a:gd name="adj" fmla="val 652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48037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348037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70998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0243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3863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709987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024312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338637"/>
            <a:ext cx="1143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Adapter: Ventajas y Desventajas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Balance general al implementar este patrón.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09937"/>
            <a:ext cx="6275784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309937"/>
            <a:ext cx="566737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Desventajas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681412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Reutilización de código antiguo.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995737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Separa la lógica de conversión.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310062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Cumple Principio de Responsabilidad Única.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681412"/>
            <a:ext cx="5667375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Aumenta la complejidad del código.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995737"/>
            <a:ext cx="5667375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Se crean múltiples clases intermedias.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4310062"/>
            <a:ext cx="5667375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Posible sobrecarga de llamadas.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995612"/>
            <a:ext cx="5638800" cy="18288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47937"/>
            <a:ext cx="5029200" cy="12573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02920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47937"/>
            <a:ext cx="38100" cy="1257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719512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33837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348162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Facade: ¿Qué es y para qué sirve?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Una fachada simple para ocultar sistemas complejos.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300412"/>
            <a:ext cx="5943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ADE80"/>
                </a:solidFill>
                <a:latin typeface="Plus Jakarta Sans"/>
              </a:rPr>
              <a:t>¿Para qué sirve?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8437"/>
            <a:ext cx="60507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lus Jakarta Sans"/>
              </a:rPr>
              <a:t>Definición Clara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14662"/>
            <a:ext cx="4705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Proporciona una interfaz simplificada (un único punto de acceso) a una librería, framework o conjunto complejo de clases.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195762"/>
            <a:ext cx="60757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Analogía del Mundo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471987"/>
            <a:ext cx="47244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El tablero de un automóvil: oculta el motor, la transmisión y los sistemas eléctricos detrás de un volante y unos pedales fáciles de usar.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690937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Aislar al cliente de subsistemas complejos.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005262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Proveer APIs limpias y fáciles de entender.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4319587"/>
            <a:ext cx="594360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Organizar sistemas grandes en capas claras.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7037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7037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81362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8136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8137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Facade: Características y Funcionamiento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Cómo la fachada simplifica la interacción diaria.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814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Encapsulamiento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76687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Oculta los detalles de inicialización y orden de ejecución de múltiples objetos.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814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Bajo Acoplamiento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76687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Reduce drásticamente las dependencias directas entre las vistas y la lógica pesada.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814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Métodos de Conveniencia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767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Agrupa llamadas repetitivas en una sola función clara y directa.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981325"/>
            <a:ext cx="5638800" cy="1857375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52700"/>
            <a:ext cx="5029200" cy="742950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48050"/>
            <a:ext cx="5029200" cy="923925"/>
          </a:xfrm>
          <a:prstGeom prst="roundRect">
            <a:avLst>
              <a:gd name="adj" fmla="val 82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24375"/>
            <a:ext cx="5029200" cy="742950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0" y="4000500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Facade: Organización y 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Estructura arquitectónica y flujo del patrón Facade.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1703" y="3286125"/>
            <a:ext cx="1702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4ADE80"/>
                </a:solidFill>
                <a:latin typeface="Plus Jakarta Sans"/>
              </a:rPr>
              <a:t>FLUJO DE LLAMADA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8265" y="3619500"/>
            <a:ext cx="33694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200" i="0" u="none">
                <a:solidFill>
                  <a:srgbClr val="FFFFFF"/>
                </a:solidFill>
                <a:latin typeface="Plus Jakarta Sans"/>
              </a:rPr>
              <a:t>Client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→ llama a → </a:t>
            </a:r>
            <a:r>
              <a:rPr b="1" sz="1200" i="0" u="none">
                <a:solidFill>
                  <a:srgbClr val="4ADE80"/>
                </a:solidFill>
                <a:latin typeface="Plus Jakarta Sans"/>
              </a:rPr>
              <a:t>Facade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Coordina →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Clase A, Clase B, Clase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714625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1. Client (Cliente)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52750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Código que solo necesita invocar un método sencillo en la fachada.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609975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2. Facade (Fachada)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48100"/>
            <a:ext cx="4724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Sabe qué clases del subsistema deben responder a cada solicitud del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686300"/>
            <a:ext cx="6075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3. Subsistema Complejo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924425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Conjunto de clases independientes (Audio, Video, Conexión, etc.).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5334000" cy="1752600"/>
          </a:xfrm>
          <a:prstGeom prst="roundRect">
            <a:avLst>
              <a:gd name="adj" fmla="val 652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90875"/>
            <a:ext cx="5334000" cy="1438275"/>
          </a:xfrm>
          <a:prstGeom prst="roundRect">
            <a:avLst>
              <a:gd name="adj" fmla="val 79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48037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505200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70998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0243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3863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867150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181475"/>
            <a:ext cx="1143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Facade: Ventajas y Desventajas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Puntos clave al elegir el patrón Facade.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309937"/>
            <a:ext cx="6275784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Ventajas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467100"/>
            <a:ext cx="566737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Desventajas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81412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Aísla al código de la complejidad.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995737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Mejora notablemente la legibilidad.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310062"/>
            <a:ext cx="5976937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4532D"/>
                </a:solidFill>
                <a:latin typeface="Plus Jakarta Sans"/>
              </a:rPr>
              <a:t>Reduce acoplamiento en módulos.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838575"/>
            <a:ext cx="5667375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Puede convertirse en un "God Object".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4152900"/>
            <a:ext cx="5667375" cy="2000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Oculta demasiado si el usuario requiere control fino.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5661"/>
            <a:ext cx="5600700" cy="3428553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38900" y="3305175"/>
            <a:ext cx="51435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Demostración Adapter (Principiante)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Ejemplo simple adaptando un sistema antiguo a uno nuevo en JavaScript.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424261"/>
            <a:ext cx="5238750" cy="2971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Plus Jakarta Sans"/>
              </a:rPr>
              <a:t>// 1. Sistema antiguo (Devuelve XML simulado) class SistemaAntiguo { obtenerDatosXML() { return "Datos"; } } // 2. Adaptador que traduce XML a JSON class AdaptadorXMLAJSON { constructor(sistemaAntiguo) { this.sistemaAntiguo = sistemaAntiguo; } obtenerDatosJSON() { let xml = this.sistemaAntiguo.obtenerDatosXML(); return { formato: "JSON", contenido: "Datos Traducidos" };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424261"/>
            <a:ext cx="5238750" cy="2971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// 1. Sistema antiguo (Devuelve XML simulado) class SistemaAntiguo { obtenerDatosXML() { return "Datos"; } } // 2. Adaptador que traduce XML a JSON class AdaptadorXMLAJSON { constructor(sistemaAntiguo) { this.sistemaAntiguo = sistemaAntiguo; } obtenerDatosJSON() { let xml = this.sistemaAntiguo.obtenerDatosXML(); return { formato: "JSON", contenido: "Datos Traducidos" };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505200"/>
            <a:ext cx="55530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¿Qué ocurre aquí?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771900"/>
            <a:ext cx="4838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El cliente necesita JSON pero el sistema antiguo solo da XML. El adaptador actúa como traductor intermedio sin modificar las clases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5661"/>
            <a:ext cx="5600700" cy="3428553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38900" y="3386137"/>
            <a:ext cx="51435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81850" y="4024312"/>
            <a:ext cx="21717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Demostración Facade (Principiante)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Ejemplo simple encendiendo un ordenador mediante una fachada.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424261"/>
            <a:ext cx="5238750" cy="2971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ADE80"/>
                </a:solidFill>
                <a:latin typeface="Plus Jakarta Sans"/>
              </a:rPr>
              <a:t>class CPU { encender() { console.log("CPU lista."); } } class Memoria { cargar() { console.log("RAM cargada."); } } // Fachada que unifica el encendido complejo class ComputadoraFachada { constructor() { this.cpu = new CPU(); this.memoria = new Memoria(); } iniciarSistema() { this.cpu.encender(); this.memoria.cargar(); console.log("¡Computadora lista para usar!");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424261"/>
            <a:ext cx="5238750" cy="2971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ADE80"/>
                </a:solidFill>
                <a:latin typeface="JetBrains Mono"/>
              </a:rPr>
              <a:t>class CPU { encender() { console.log("CPU lista."); } } class Memoria { cargar() { console.log("RAM cargada."); } } // Fachada que unifica el encendido complejo class ComputadoraFachada { constructor() { this.cpu = new CPU(); this.memoria = new Memoria(); } iniciarSistema() { this.cpu.encender(); this.memoria.cargar(); console.log("¡Computadora lista para usar!"); }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586162"/>
            <a:ext cx="55530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Simplicidad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852862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En lugar de llamar a CPU y Memoria por separado, el usuario solo ejecuta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0" y="4043362"/>
            <a:ext cx="2152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fachada.iniciarSistema()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276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5276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5276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2898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2898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28987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Tecnologías Relacionadas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¿Dónde encontramos estos patrones en el desarrollo web moderno?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9093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React (Hooks &amp; Services)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86212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Los Custom Hooks actúan como Facades para encapsular llamadas complejas a APIs y lógica de estado.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9093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&amp; 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986212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Los ORMs (Prisma, Sequelize) usan adaptadores internos para traducir código JS a MySQL o PostgreSQL.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90937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Servicios Cloud (AWS SDK)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86212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Los SDKs proveen fachadas para subir archivos a la nube sin configurar sockets HTTP manualmente.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5334000" cy="1704975"/>
          </a:xfrm>
          <a:prstGeom prst="roundRect">
            <a:avLst>
              <a:gd name="adj" fmla="val 670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38500"/>
            <a:ext cx="5334000" cy="1343025"/>
          </a:xfrm>
          <a:prstGeom prst="roundRect">
            <a:avLst>
              <a:gd name="adj" fmla="val 851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695700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152900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87667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152900"/>
            <a:ext cx="1238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Guía de Decisión: ¿Cuándo usar cuál?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Diferencias clave para elegir correctamente en tu proyecto.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333750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Utiliza Adapter cuando: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51472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lus Jakarta Sans"/>
              </a:rPr>
              <a:t>Utiliza Facade cuando: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67125"/>
            <a:ext cx="48768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Quieres integrar una clase existente cuya interfaz no coincide con tu código.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124325"/>
            <a:ext cx="48768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Necesitas reutilizar varias subclases que carecen de alguna funcionalidad común.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848100"/>
            <a:ext cx="5667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Necesitas una interfaz simple para un subsistema complejo.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124325"/>
            <a:ext cx="56673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Quieres estructurar tu aplicación en capas independientes.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02297"/>
            <a:ext cx="10972800" cy="10057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902297"/>
            <a:ext cx="38100" cy="10057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36677"/>
            <a:ext cx="5372100" cy="781050"/>
          </a:xfrm>
          <a:prstGeom prst="roundRect">
            <a:avLst>
              <a:gd name="adj" fmla="val 975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136677"/>
            <a:ext cx="5372100" cy="781050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Conclusión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El impacto de los patrones estructurales en el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30897"/>
            <a:ext cx="10572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1E293B"/>
                </a:solidFill>
                <a:latin typeface="Plus Jakarta Sans"/>
              </a:rPr>
              <a:t>Tanto </a:t>
            </a:r>
            <a:r>
              <a:rPr b="1" sz="1350" i="0" u="none">
                <a:solidFill>
                  <a:srgbClr val="1E293B"/>
                </a:solidFill>
                <a:latin typeface="Plus Jakarta Sans"/>
              </a:rPr>
              <a:t>Adapter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como </a:t>
            </a:r>
            <a:r>
              <a:rPr b="1" sz="1350" i="0" u="none">
                <a:solidFill>
                  <a:srgbClr val="1E293B"/>
                </a:solidFill>
                <a:latin typeface="Plus Jakarta Sans"/>
              </a:rPr>
              <a:t>Facade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son herramientas indispensables del desarrollo moderno que resuelven problemas de compatibilidad y complejidad mediante la intermediación de clases especializadas.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" y="4327177"/>
            <a:ext cx="6334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Plus Jakarta Sans"/>
              </a:rPr>
              <a:t>Adapter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Transforma incompatibilidades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9287" y="4327177"/>
            <a:ext cx="6334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Plus Jakarta Sans"/>
              </a:rPr>
              <a:t>Facade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Simplifica la complejidad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67162" y="3857625"/>
            <a:ext cx="2228850" cy="371475"/>
          </a:xfrm>
          <a:prstGeom prst="roundRect">
            <a:avLst>
              <a:gd name="adj" fmla="val 2051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48412" y="3857625"/>
            <a:ext cx="1876425" cy="371475"/>
          </a:xfrm>
          <a:prstGeom prst="roundRect">
            <a:avLst>
              <a:gd name="adj" fmla="val 2051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62" y="3981450"/>
            <a:ext cx="1809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912" y="3981450"/>
            <a:ext cx="180975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27380" y="2628900"/>
            <a:ext cx="453709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Plus Jakarta Sans"/>
              </a:rPr>
              <a:t>¡Muchas Gracias!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3314700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¿Preguntas o comentarios sobre Adapter y Facade?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9056" y="3952875"/>
            <a:ext cx="24050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Patrones Estructurales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4359" y="3952875"/>
            <a:ext cx="196453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4ADE80"/>
                </a:solidFill>
                <a:latin typeface="Plus Jakarta Sans"/>
              </a:rPr>
              <a:t>Nivel Principiante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